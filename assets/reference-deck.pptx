
<file path=[Content_Types].xml><?xml version="1.0" encoding="utf-8"?>
<Types xmlns="http://schemas.openxmlformats.org/package/2006/content-types">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2" r:id="rId21"/>
    <p:sldId id="276" r:id="rId22"/>
    <p:sldId id="277" r:id="rId23"/>
    <p:sldId id="283" r:id="rId24"/>
    <p:sldId id="279" r:id="rId25"/>
    <p:sldId id="286"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seph marzouk" userId="c1fd1503c9790c44" providerId="LiveId" clId="{1499994C-0784-485F-A24F-46FCD2822384}"/>
    <pc:docChg chg="delSld modSld">
      <pc:chgData name="joseph marzouk" userId="c1fd1503c9790c44" providerId="LiveId" clId="{1499994C-0784-485F-A24F-46FCD2822384}" dt="2026-08-02T12:56:32.210" v="2" actId="47"/>
      <pc:docMkLst>
        <pc:docMk/>
      </pc:docMkLst>
      <pc:sldChg chg="modSp mod">
        <pc:chgData name="joseph marzouk" userId="c1fd1503c9790c44" providerId="LiveId" clId="{1499994C-0784-485F-A24F-46FCD2822384}" dt="2026-08-02T11:58:47.107" v="1" actId="14100"/>
        <pc:sldMkLst>
          <pc:docMk/>
          <pc:sldMk cId="0" sldId="267"/>
        </pc:sldMkLst>
        <pc:spChg chg="mod">
          <ac:chgData name="joseph marzouk" userId="c1fd1503c9790c44" providerId="LiveId" clId="{1499994C-0784-485F-A24F-46FCD2822384}" dt="2026-08-02T11:58:47.107" v="1" actId="14100"/>
          <ac:spMkLst>
            <pc:docMk/>
            <pc:sldMk cId="0" sldId="267"/>
            <ac:spMk id="184" creationId="{00000000-0000-0000-0000-000000000000}"/>
          </ac:spMkLst>
        </pc:spChg>
      </pc:sldChg>
      <pc:sldChg chg="modSp mod">
        <pc:chgData name="joseph marzouk" userId="c1fd1503c9790c44" providerId="LiveId" clId="{1499994C-0784-485F-A24F-46FCD2822384}" dt="2026-08-02T11:56:12.112" v="0" actId="14100"/>
        <pc:sldMkLst>
          <pc:docMk/>
          <pc:sldMk cId="0" sldId="274"/>
        </pc:sldMkLst>
        <pc:spChg chg="mod">
          <ac:chgData name="joseph marzouk" userId="c1fd1503c9790c44" providerId="LiveId" clId="{1499994C-0784-485F-A24F-46FCD2822384}" dt="2026-08-02T11:56:12.112" v="0" actId="14100"/>
          <ac:spMkLst>
            <pc:docMk/>
            <pc:sldMk cId="0" sldId="274"/>
            <ac:spMk id="270" creationId="{00000000-0000-0000-0000-000000000000}"/>
          </ac:spMkLst>
        </pc:spChg>
      </pc:sldChg>
      <pc:sldChg chg="del">
        <pc:chgData name="joseph marzouk" userId="c1fd1503c9790c44" providerId="LiveId" clId="{1499994C-0784-485F-A24F-46FCD2822384}" dt="2026-08-02T12:56:32.210" v="2" actId="47"/>
        <pc:sldMkLst>
          <pc:docMk/>
          <pc:sldMk cId="0"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2320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Deck compiled from the six Gym admin guide pages: overview, main info, subscription plans, bookings, cancellation requests, glossary.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early: Gym is smaller than Dining, and the locked fields are the thing people get wrong.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Warn the room about Dashboard before someone clicks it and reports a bug.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step 5: a plan is live the second Status goes 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two rows are the surprises. Pause on both.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this screen is required, which trips people up when Save will not click.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panel is labelled "Sport Details" — the gym reuses the same building block as other sports.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biggest operational difference from Dining, where refunds are automatic.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policy is prose, not a rule the system enforces.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support call: "my photos will not save". It is always a blank text field.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superadmin behaviour with the dev team before stating it as fact.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saves and closes; Add another saves and opens a fresh form.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Typing 30 instead of 90 for a three-month plan is unrecoverable. Say so plainly.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wrong Save Percentage is a consumer-facing claim. Treat it as a money field.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 this as unconfirmed — it is read from the app source, not from production.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tabs live under Subscription Plan Bookings in the sidebar.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statuses only. No pending, no paused.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Booked By changes the discount, so set it before reading the total.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manual-refund problem as the requests tab.</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the request window is read-only except one field.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tick box really is missing its apostrophe.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Flagged as unconfirmed. Read from the source snapshot, not from production.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D2320"/>
        </a:solidFill>
        <a:effectLst/>
      </p:bgPr>
    </p:bg>
    <p:spTree>
      <p:nvGrpSpPr>
        <p:cNvPr id="1" name=""/>
        <p:cNvGrpSpPr/>
        <p:nvPr/>
      </p:nvGrpSpPr>
      <p:grpSpPr>
        <a:xfrm>
          <a:off x="0" y="0"/>
          <a:ext cx="0" cy="0"/>
          <a:chOff x="0" y="0"/>
          <a:chExt cx="0" cy="0"/>
        </a:xfrm>
      </p:grpSpPr>
      <p:sp>
        <p:nvSpPr>
          <p:cNvPr id="2" name="Shape 2"/>
          <p:cNvSpPr/>
          <p:nvPr/>
        </p:nvSpPr>
        <p:spPr>
          <a:xfrm>
            <a:off x="9052560" y="-1371600"/>
            <a:ext cx="5120640" cy="5120640"/>
          </a:xfrm>
          <a:prstGeom prst="ellipse">
            <a:avLst/>
          </a:prstGeom>
          <a:solidFill>
            <a:srgbClr val="B85042">
              <a:alpha val="45000"/>
            </a:srgbClr>
          </a:solidFill>
          <a:ln/>
        </p:spPr>
      </p:sp>
      <p:sp>
        <p:nvSpPr>
          <p:cNvPr id="3" name="Shape 3"/>
          <p:cNvSpPr/>
          <p:nvPr/>
        </p:nvSpPr>
        <p:spPr>
          <a:xfrm>
            <a:off x="10424160" y="4023360"/>
            <a:ext cx="3108960" cy="3108960"/>
          </a:xfrm>
          <a:prstGeom prst="ellipse">
            <a:avLst/>
          </a:prstGeom>
          <a:solidFill>
            <a:srgbClr val="A7BEAE">
              <a:alpha val="30000"/>
            </a:srgbClr>
          </a:solidFill>
          <a:ln/>
        </p:spPr>
      </p:sp>
      <p:sp>
        <p:nvSpPr>
          <p:cNvPr id="4" name="Text 4"/>
          <p:cNvSpPr/>
          <p:nvPr/>
        </p:nvSpPr>
        <p:spPr>
          <a:xfrm>
            <a:off x="640080" y="1417320"/>
            <a:ext cx="7863840" cy="320040"/>
          </a:xfrm>
          <a:prstGeom prst="rect">
            <a:avLst/>
          </a:prstGeom>
          <a:noFill/>
          <a:ln/>
        </p:spPr>
        <p:txBody>
          <a:bodyPr wrap="square" lIns="0" tIns="0" rIns="0" bIns="0" rtlCol="0" anchor="ctr"/>
          <a:lstStyle/>
          <a:p>
            <a:pPr marL="0" indent="0">
              <a:buNone/>
            </a:pPr>
            <a:r>
              <a:rPr lang="en-US" sz="1300" b="1" kern="0" spc="300" dirty="0">
                <a:solidFill>
                  <a:srgbClr val="A7BEAE"/>
                </a:solidFill>
                <a:latin typeface="Calibri" pitchFamily="34" charset="0"/>
                <a:ea typeface="Calibri" pitchFamily="34" charset="-122"/>
                <a:cs typeface="Calibri" pitchFamily="34" charset="-120"/>
              </a:rPr>
              <a:t>BR CLUBS  ·  ADMIN PANEL</a:t>
            </a:r>
            <a:endParaRPr lang="en-US" sz="1300" dirty="0"/>
          </a:p>
        </p:txBody>
      </p:sp>
      <p:sp>
        <p:nvSpPr>
          <p:cNvPr id="5" name="Text 5"/>
          <p:cNvSpPr/>
          <p:nvPr/>
        </p:nvSpPr>
        <p:spPr>
          <a:xfrm>
            <a:off x="640080" y="1828800"/>
            <a:ext cx="7863840" cy="1051560"/>
          </a:xfrm>
          <a:prstGeom prst="rect">
            <a:avLst/>
          </a:prstGeom>
          <a:noFill/>
          <a:ln/>
        </p:spPr>
        <p:txBody>
          <a:bodyPr wrap="square" lIns="0" tIns="0" rIns="0" bIns="0" rtlCol="0" anchor="ctr"/>
          <a:lstStyle/>
          <a:p>
            <a:pPr marL="0" indent="0">
              <a:buNone/>
            </a:pPr>
            <a:r>
              <a:rPr lang="en-US" sz="6600" b="1" dirty="0">
                <a:solidFill>
                  <a:srgbClr val="FFFFFF"/>
                </a:solidFill>
                <a:latin typeface="Cambria" pitchFamily="34" charset="0"/>
                <a:ea typeface="Cambria" pitchFamily="34" charset="-122"/>
                <a:cs typeface="Cambria" pitchFamily="34" charset="-120"/>
              </a:rPr>
              <a:t>Gym</a:t>
            </a:r>
            <a:endParaRPr lang="en-US" sz="6600" dirty="0"/>
          </a:p>
        </p:txBody>
      </p:sp>
      <p:sp>
        <p:nvSpPr>
          <p:cNvPr id="6" name="Text 6"/>
          <p:cNvSpPr/>
          <p:nvPr/>
        </p:nvSpPr>
        <p:spPr>
          <a:xfrm>
            <a:off x="640080" y="2971800"/>
            <a:ext cx="7498080" cy="822960"/>
          </a:xfrm>
          <a:prstGeom prst="rect">
            <a:avLst/>
          </a:prstGeom>
          <a:noFill/>
          <a:ln/>
        </p:spPr>
        <p:txBody>
          <a:bodyPr wrap="square" lIns="0" tIns="0" rIns="0" bIns="0" rtlCol="0" anchor="ctr"/>
          <a:lstStyle/>
          <a:p>
            <a:pPr marL="0" indent="0">
              <a:buNone/>
            </a:pPr>
            <a:r>
              <a:rPr lang="en-US" sz="1800" dirty="0">
                <a:solidFill>
                  <a:srgbClr val="E7E8D1"/>
                </a:solidFill>
                <a:latin typeface="Calibri" pitchFamily="34" charset="0"/>
                <a:ea typeface="Calibri" pitchFamily="34" charset="-122"/>
                <a:cs typeface="Calibri" pitchFamily="34" charset="-120"/>
              </a:rPr>
              <a:t>How to run subscription plans, bookings and cancellations — and what each field does on the member’s phone.</a:t>
            </a:r>
            <a:endParaRPr lang="en-US" sz="1800" dirty="0"/>
          </a:p>
        </p:txBody>
      </p:sp>
      <p:sp>
        <p:nvSpPr>
          <p:cNvPr id="7" name="Text 7"/>
          <p:cNvSpPr/>
          <p:nvPr/>
        </p:nvSpPr>
        <p:spPr>
          <a:xfrm>
            <a:off x="640080" y="3794760"/>
            <a:ext cx="7498080" cy="365760"/>
          </a:xfrm>
          <a:prstGeom prst="rect">
            <a:avLst/>
          </a:prstGeom>
          <a:noFill/>
          <a:ln/>
        </p:spPr>
        <p:txBody>
          <a:bodyPr wrap="square" lIns="0" tIns="0" rIns="0" bIns="0" rtlCol="0" anchor="ctr"/>
          <a:lstStyle/>
          <a:p>
            <a:pPr marL="0" indent="0">
              <a:buNone/>
            </a:pPr>
            <a:r>
              <a:rPr lang="en-US" sz="1500" i="1" dirty="0">
                <a:solidFill>
                  <a:srgbClr val="A7BEAE"/>
                </a:solidFill>
                <a:latin typeface="Calibri" pitchFamily="34" charset="0"/>
                <a:ea typeface="Calibri" pitchFamily="34" charset="-122"/>
                <a:cs typeface="Calibri" pitchFamily="34" charset="-120"/>
              </a:rPr>
              <a:t>No technical knowledge needed.</a:t>
            </a:r>
            <a:endParaRPr lang="en-US" sz="1500" dirty="0"/>
          </a:p>
        </p:txBody>
      </p:sp>
      <p:sp>
        <p:nvSpPr>
          <p:cNvPr id="8" name="Shape 8"/>
          <p:cNvSpPr/>
          <p:nvPr/>
        </p:nvSpPr>
        <p:spPr>
          <a:xfrm>
            <a:off x="640080" y="4709160"/>
            <a:ext cx="1691640" cy="457200"/>
          </a:xfrm>
          <a:prstGeom prst="roundRect">
            <a:avLst>
              <a:gd name="adj" fmla="val 12000"/>
            </a:avLst>
          </a:prstGeom>
          <a:solidFill>
            <a:srgbClr val="FFFFFF">
              <a:alpha val="12000"/>
            </a:srgbClr>
          </a:solidFill>
          <a:ln w="12700">
            <a:solidFill>
              <a:srgbClr val="A7BEAE"/>
            </a:solidFill>
            <a:prstDash val="solid"/>
          </a:ln>
        </p:spPr>
      </p:sp>
      <p:sp>
        <p:nvSpPr>
          <p:cNvPr id="9" name="Text 9"/>
          <p:cNvSpPr/>
          <p:nvPr/>
        </p:nvSpPr>
        <p:spPr>
          <a:xfrm>
            <a:off x="640080" y="47091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Main Info</a:t>
            </a:r>
            <a:endParaRPr lang="en-US" sz="1200" dirty="0"/>
          </a:p>
        </p:txBody>
      </p:sp>
      <p:sp>
        <p:nvSpPr>
          <p:cNvPr id="10" name="Shape 10"/>
          <p:cNvSpPr/>
          <p:nvPr/>
        </p:nvSpPr>
        <p:spPr>
          <a:xfrm>
            <a:off x="2514600" y="4709160"/>
            <a:ext cx="1691640" cy="457200"/>
          </a:xfrm>
          <a:prstGeom prst="roundRect">
            <a:avLst>
              <a:gd name="adj" fmla="val 12000"/>
            </a:avLst>
          </a:prstGeom>
          <a:solidFill>
            <a:srgbClr val="FFFFFF">
              <a:alpha val="12000"/>
            </a:srgbClr>
          </a:solidFill>
          <a:ln w="12700">
            <a:solidFill>
              <a:srgbClr val="A7BEAE"/>
            </a:solidFill>
            <a:prstDash val="solid"/>
          </a:ln>
        </p:spPr>
      </p:sp>
      <p:sp>
        <p:nvSpPr>
          <p:cNvPr id="11" name="Text 11"/>
          <p:cNvSpPr/>
          <p:nvPr/>
        </p:nvSpPr>
        <p:spPr>
          <a:xfrm>
            <a:off x="2514600" y="47091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Plans</a:t>
            </a:r>
            <a:endParaRPr lang="en-US" sz="1200" dirty="0"/>
          </a:p>
        </p:txBody>
      </p:sp>
      <p:sp>
        <p:nvSpPr>
          <p:cNvPr id="12" name="Shape 12"/>
          <p:cNvSpPr/>
          <p:nvPr/>
        </p:nvSpPr>
        <p:spPr>
          <a:xfrm>
            <a:off x="4389120" y="4709160"/>
            <a:ext cx="1691640" cy="457200"/>
          </a:xfrm>
          <a:prstGeom prst="roundRect">
            <a:avLst>
              <a:gd name="adj" fmla="val 12000"/>
            </a:avLst>
          </a:prstGeom>
          <a:solidFill>
            <a:srgbClr val="FFFFFF">
              <a:alpha val="12000"/>
            </a:srgbClr>
          </a:solidFill>
          <a:ln w="12700">
            <a:solidFill>
              <a:srgbClr val="A7BEAE"/>
            </a:solidFill>
            <a:prstDash val="solid"/>
          </a:ln>
        </p:spPr>
      </p:sp>
      <p:sp>
        <p:nvSpPr>
          <p:cNvPr id="13" name="Text 13"/>
          <p:cNvSpPr/>
          <p:nvPr/>
        </p:nvSpPr>
        <p:spPr>
          <a:xfrm>
            <a:off x="4389120" y="47091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Bookings</a:t>
            </a:r>
            <a:endParaRPr lang="en-US" sz="1200" dirty="0"/>
          </a:p>
        </p:txBody>
      </p:sp>
      <p:sp>
        <p:nvSpPr>
          <p:cNvPr id="14" name="Shape 14"/>
          <p:cNvSpPr/>
          <p:nvPr/>
        </p:nvSpPr>
        <p:spPr>
          <a:xfrm>
            <a:off x="6263640" y="4709160"/>
            <a:ext cx="1691640" cy="457200"/>
          </a:xfrm>
          <a:prstGeom prst="roundRect">
            <a:avLst>
              <a:gd name="adj" fmla="val 12000"/>
            </a:avLst>
          </a:prstGeom>
          <a:solidFill>
            <a:srgbClr val="FFFFFF">
              <a:alpha val="12000"/>
            </a:srgbClr>
          </a:solidFill>
          <a:ln w="12700">
            <a:solidFill>
              <a:srgbClr val="A7BEAE"/>
            </a:solidFill>
            <a:prstDash val="solid"/>
          </a:ln>
        </p:spPr>
      </p:sp>
      <p:sp>
        <p:nvSpPr>
          <p:cNvPr id="15" name="Text 15"/>
          <p:cNvSpPr/>
          <p:nvPr/>
        </p:nvSpPr>
        <p:spPr>
          <a:xfrm>
            <a:off x="6263640" y="4709160"/>
            <a:ext cx="169164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Cancellations</a:t>
            </a:r>
            <a:endParaRPr lang="en-US" sz="1200" dirty="0"/>
          </a:p>
        </p:txBody>
      </p:sp>
      <p:sp>
        <p:nvSpPr>
          <p:cNvPr id="16" name="Text 16"/>
          <p:cNvSpPr/>
          <p:nvPr/>
        </p:nvSpPr>
        <p:spPr>
          <a:xfrm>
            <a:off x="640080" y="6327648"/>
            <a:ext cx="10881360" cy="274320"/>
          </a:xfrm>
          <a:prstGeom prst="rect">
            <a:avLst/>
          </a:prstGeom>
          <a:noFill/>
          <a:ln/>
        </p:spPr>
        <p:txBody>
          <a:bodyPr wrap="square" lIns="0" tIns="0" rIns="0" bIns="0" rtlCol="0" anchor="ctr"/>
          <a:lstStyle/>
          <a:p>
            <a:pPr marL="0" indent="0">
              <a:buNone/>
            </a:pPr>
            <a:r>
              <a:rPr lang="en-US" sz="950" dirty="0">
                <a:solidFill>
                  <a:srgbClr val="A7BEAE"/>
                </a:solidFill>
                <a:latin typeface="Calibri" pitchFamily="34" charset="0"/>
                <a:ea typeface="Calibri" pitchFamily="34" charset="-122"/>
                <a:cs typeface="Calibri" pitchFamily="34" charset="-120"/>
              </a:rPr>
              <a:t>Built from 6 guide pages · written against the live admin panel and mobile app code · last updated 2026-08-02</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 17"/>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In one minute</a:t>
            </a:r>
            <a:endParaRPr lang="en-US" sz="3400" dirty="0"/>
          </a:p>
        </p:txBody>
      </p:sp>
      <p:sp>
        <p:nvSpPr>
          <p:cNvPr id="18" name="Text 18"/>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Five things that explain nearly everything about Gym.</a:t>
            </a:r>
            <a:endParaRPr lang="en-US" sz="1400" dirty="0"/>
          </a:p>
        </p:txBody>
      </p:sp>
      <p:sp>
        <p:nvSpPr>
          <p:cNvPr id="19" name="Shape 19"/>
          <p:cNvSpPr/>
          <p:nvPr/>
        </p:nvSpPr>
        <p:spPr>
          <a:xfrm>
            <a:off x="640080" y="1691640"/>
            <a:ext cx="10881360" cy="841248"/>
          </a:xfrm>
          <a:prstGeom prst="roundRect">
            <a:avLst>
              <a:gd name="adj" fmla="val 2222"/>
            </a:avLst>
          </a:prstGeom>
          <a:solidFill>
            <a:srgbClr val="FBF6F2"/>
          </a:solidFill>
          <a:ln w="12700">
            <a:solidFill>
              <a:srgbClr val="E8DFD6"/>
            </a:solidFill>
            <a:prstDash val="solid"/>
          </a:ln>
        </p:spPr>
      </p:sp>
      <p:sp>
        <p:nvSpPr>
          <p:cNvPr id="20" name="Shape 20"/>
          <p:cNvSpPr/>
          <p:nvPr/>
        </p:nvSpPr>
        <p:spPr>
          <a:xfrm>
            <a:off x="896112" y="1901952"/>
            <a:ext cx="420624" cy="420624"/>
          </a:xfrm>
          <a:prstGeom prst="ellipse">
            <a:avLst/>
          </a:prstGeom>
          <a:solidFill>
            <a:srgbClr val="B85042"/>
          </a:solidFill>
          <a:ln/>
        </p:spPr>
      </p:sp>
      <p:sp>
        <p:nvSpPr>
          <p:cNvPr id="21" name="Text 21"/>
          <p:cNvSpPr/>
          <p:nvPr/>
        </p:nvSpPr>
        <p:spPr>
          <a:xfrm>
            <a:off x="896112" y="19019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2" name="Text 22"/>
          <p:cNvSpPr/>
          <p:nvPr/>
        </p:nvSpPr>
        <p:spPr>
          <a:xfrm>
            <a:off x="1508760" y="180136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Admin panel sets up. App shows.</a:t>
            </a:r>
            <a:endParaRPr lang="en-US" sz="1500" dirty="0"/>
          </a:p>
        </p:txBody>
      </p:sp>
      <p:sp>
        <p:nvSpPr>
          <p:cNvPr id="23" name="Text 23"/>
          <p:cNvSpPr/>
          <p:nvPr/>
        </p:nvSpPr>
        <p:spPr>
          <a:xfrm>
            <a:off x="1508760" y="211226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You configure everything here; members see the result in the mobile app.</a:t>
            </a:r>
            <a:endParaRPr lang="en-US" sz="1250" dirty="0"/>
          </a:p>
        </p:txBody>
      </p:sp>
      <p:sp>
        <p:nvSpPr>
          <p:cNvPr id="24" name="Shape 24"/>
          <p:cNvSpPr/>
          <p:nvPr/>
        </p:nvSpPr>
        <p:spPr>
          <a:xfrm>
            <a:off x="640080" y="2623704"/>
            <a:ext cx="10881360" cy="841248"/>
          </a:xfrm>
          <a:prstGeom prst="roundRect">
            <a:avLst>
              <a:gd name="adj" fmla="val 2222"/>
            </a:avLst>
          </a:prstGeom>
          <a:solidFill>
            <a:srgbClr val="FBF6F2"/>
          </a:solidFill>
          <a:ln w="12700">
            <a:solidFill>
              <a:srgbClr val="E8DFD6"/>
            </a:solidFill>
            <a:prstDash val="solid"/>
          </a:ln>
        </p:spPr>
      </p:sp>
      <p:sp>
        <p:nvSpPr>
          <p:cNvPr id="25" name="Shape 25"/>
          <p:cNvSpPr/>
          <p:nvPr/>
        </p:nvSpPr>
        <p:spPr>
          <a:xfrm>
            <a:off x="896112" y="2834016"/>
            <a:ext cx="420624" cy="420624"/>
          </a:xfrm>
          <a:prstGeom prst="ellipse">
            <a:avLst/>
          </a:prstGeom>
          <a:solidFill>
            <a:srgbClr val="B85042"/>
          </a:solidFill>
          <a:ln/>
        </p:spPr>
      </p:sp>
      <p:sp>
        <p:nvSpPr>
          <p:cNvPr id="26" name="Text 26"/>
          <p:cNvSpPr/>
          <p:nvPr/>
        </p:nvSpPr>
        <p:spPr>
          <a:xfrm>
            <a:off x="896112" y="283401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7" name="Text 27"/>
          <p:cNvSpPr/>
          <p:nvPr/>
        </p:nvSpPr>
        <p:spPr>
          <a:xfrm>
            <a:off x="1508760" y="2733432"/>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No publish step.</a:t>
            </a:r>
            <a:endParaRPr lang="en-US" sz="1500" dirty="0"/>
          </a:p>
        </p:txBody>
      </p:sp>
      <p:sp>
        <p:nvSpPr>
          <p:cNvPr id="28" name="Text 28"/>
          <p:cNvSpPr/>
          <p:nvPr/>
        </p:nvSpPr>
        <p:spPr>
          <a:xfrm>
            <a:off x="1508760" y="3044328"/>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The moment you save, members see the change.</a:t>
            </a:r>
            <a:endParaRPr lang="en-US" sz="1250" dirty="0"/>
          </a:p>
        </p:txBody>
      </p:sp>
      <p:sp>
        <p:nvSpPr>
          <p:cNvPr id="29" name="Shape 29"/>
          <p:cNvSpPr/>
          <p:nvPr/>
        </p:nvSpPr>
        <p:spPr>
          <a:xfrm>
            <a:off x="640080" y="3555768"/>
            <a:ext cx="10881360" cy="841248"/>
          </a:xfrm>
          <a:prstGeom prst="roundRect">
            <a:avLst>
              <a:gd name="adj" fmla="val 2222"/>
            </a:avLst>
          </a:prstGeom>
          <a:solidFill>
            <a:srgbClr val="FBF6F2"/>
          </a:solidFill>
          <a:ln w="12700">
            <a:solidFill>
              <a:srgbClr val="E8DFD6"/>
            </a:solidFill>
            <a:prstDash val="solid"/>
          </a:ln>
        </p:spPr>
      </p:sp>
      <p:sp>
        <p:nvSpPr>
          <p:cNvPr id="30" name="Shape 30"/>
          <p:cNvSpPr/>
          <p:nvPr/>
        </p:nvSpPr>
        <p:spPr>
          <a:xfrm>
            <a:off x="896112" y="3766080"/>
            <a:ext cx="420624" cy="420624"/>
          </a:xfrm>
          <a:prstGeom prst="ellipse">
            <a:avLst/>
          </a:prstGeom>
          <a:solidFill>
            <a:srgbClr val="B85042"/>
          </a:solidFill>
          <a:ln/>
        </p:spPr>
      </p:sp>
      <p:sp>
        <p:nvSpPr>
          <p:cNvPr id="31" name="Text 31"/>
          <p:cNvSpPr/>
          <p:nvPr/>
        </p:nvSpPr>
        <p:spPr>
          <a:xfrm>
            <a:off x="896112" y="376608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2" name="Text 32"/>
          <p:cNvSpPr/>
          <p:nvPr/>
        </p:nvSpPr>
        <p:spPr>
          <a:xfrm>
            <a:off x="1508760" y="3665496"/>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Gym sells subscriptions, not sessions.</a:t>
            </a:r>
            <a:endParaRPr lang="en-US" sz="1500" dirty="0"/>
          </a:p>
        </p:txBody>
      </p:sp>
      <p:sp>
        <p:nvSpPr>
          <p:cNvPr id="33" name="Text 33"/>
          <p:cNvSpPr/>
          <p:nvPr/>
        </p:nvSpPr>
        <p:spPr>
          <a:xfrm>
            <a:off x="1508760" y="3976392"/>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A member buys a plan that runs for a number of days.</a:t>
            </a:r>
            <a:endParaRPr lang="en-US" sz="1250" dirty="0"/>
          </a:p>
        </p:txBody>
      </p:sp>
      <p:sp>
        <p:nvSpPr>
          <p:cNvPr id="34" name="Shape 34"/>
          <p:cNvSpPr/>
          <p:nvPr/>
        </p:nvSpPr>
        <p:spPr>
          <a:xfrm>
            <a:off x="640080" y="4487832"/>
            <a:ext cx="10881360" cy="841248"/>
          </a:xfrm>
          <a:prstGeom prst="roundRect">
            <a:avLst>
              <a:gd name="adj" fmla="val 2222"/>
            </a:avLst>
          </a:prstGeom>
          <a:solidFill>
            <a:srgbClr val="FBF6F2"/>
          </a:solidFill>
          <a:ln w="12700">
            <a:solidFill>
              <a:srgbClr val="E8DFD6"/>
            </a:solidFill>
            <a:prstDash val="solid"/>
          </a:ln>
        </p:spPr>
      </p:sp>
      <p:sp>
        <p:nvSpPr>
          <p:cNvPr id="35" name="Shape 35"/>
          <p:cNvSpPr/>
          <p:nvPr/>
        </p:nvSpPr>
        <p:spPr>
          <a:xfrm>
            <a:off x="896112" y="4698144"/>
            <a:ext cx="420624" cy="420624"/>
          </a:xfrm>
          <a:prstGeom prst="ellipse">
            <a:avLst/>
          </a:prstGeom>
          <a:solidFill>
            <a:srgbClr val="B85042"/>
          </a:solidFill>
          <a:ln/>
        </p:spPr>
      </p:sp>
      <p:sp>
        <p:nvSpPr>
          <p:cNvPr id="36" name="Text 36"/>
          <p:cNvSpPr/>
          <p:nvPr/>
        </p:nvSpPr>
        <p:spPr>
          <a:xfrm>
            <a:off x="896112" y="469814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7" name="Text 37"/>
          <p:cNvSpPr/>
          <p:nvPr/>
        </p:nvSpPr>
        <p:spPr>
          <a:xfrm>
            <a:off x="1508760" y="4597560"/>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Three screens work. A fourth is empty.</a:t>
            </a:r>
            <a:endParaRPr lang="en-US" sz="1500" dirty="0"/>
          </a:p>
        </p:txBody>
      </p:sp>
      <p:sp>
        <p:nvSpPr>
          <p:cNvPr id="38" name="Text 38"/>
          <p:cNvSpPr/>
          <p:nvPr/>
        </p:nvSpPr>
        <p:spPr>
          <a:xfrm>
            <a:off x="1508760" y="4908456"/>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Main Info · Subscription Plans · Bookings. Dashboard is in the sidebar but does nothing.</a:t>
            </a:r>
            <a:endParaRPr lang="en-US" sz="1250" dirty="0"/>
          </a:p>
        </p:txBody>
      </p:sp>
      <p:sp>
        <p:nvSpPr>
          <p:cNvPr id="39" name="Shape 39"/>
          <p:cNvSpPr/>
          <p:nvPr/>
        </p:nvSpPr>
        <p:spPr>
          <a:xfrm>
            <a:off x="640080" y="5419896"/>
            <a:ext cx="10881360" cy="841248"/>
          </a:xfrm>
          <a:prstGeom prst="roundRect">
            <a:avLst>
              <a:gd name="adj" fmla="val 2222"/>
            </a:avLst>
          </a:prstGeom>
          <a:solidFill>
            <a:srgbClr val="FBF6F2"/>
          </a:solidFill>
          <a:ln w="12700">
            <a:solidFill>
              <a:srgbClr val="E8DFD6"/>
            </a:solidFill>
            <a:prstDash val="solid"/>
          </a:ln>
        </p:spPr>
      </p:sp>
      <p:sp>
        <p:nvSpPr>
          <p:cNvPr id="40" name="Shape 40"/>
          <p:cNvSpPr/>
          <p:nvPr/>
        </p:nvSpPr>
        <p:spPr>
          <a:xfrm>
            <a:off x="896112" y="5630208"/>
            <a:ext cx="420624" cy="420624"/>
          </a:xfrm>
          <a:prstGeom prst="ellipse">
            <a:avLst/>
          </a:prstGeom>
          <a:solidFill>
            <a:srgbClr val="B85042"/>
          </a:solidFill>
          <a:ln/>
        </p:spPr>
      </p:sp>
      <p:sp>
        <p:nvSpPr>
          <p:cNvPr id="41" name="Text 41"/>
          <p:cNvSpPr/>
          <p:nvPr/>
        </p:nvSpPr>
        <p:spPr>
          <a:xfrm>
            <a:off x="896112" y="563020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2" name="Text 42"/>
          <p:cNvSpPr/>
          <p:nvPr/>
        </p:nvSpPr>
        <p:spPr>
          <a:xfrm>
            <a:off x="1508760" y="5529624"/>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Four fields lock forever.</a:t>
            </a:r>
            <a:endParaRPr lang="en-US" sz="1500" dirty="0"/>
          </a:p>
        </p:txBody>
      </p:sp>
      <p:sp>
        <p:nvSpPr>
          <p:cNvPr id="43" name="Text 43"/>
          <p:cNvSpPr/>
          <p:nvPr/>
        </p:nvSpPr>
        <p:spPr>
          <a:xfrm>
            <a:off x="1508760" y="5840520"/>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Duration, Total Freeze, Min Freeze and Guest Invitations can never be changed once a plan is saved.</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4" name="Text 44"/>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screens</a:t>
            </a:r>
            <a:endParaRPr lang="en-US" sz="3400" dirty="0"/>
          </a:p>
        </p:txBody>
      </p:sp>
      <p:sp>
        <p:nvSpPr>
          <p:cNvPr id="45" name="Text 45"/>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Four entries in the sidebar. Three of them lead somewhere.</a:t>
            </a:r>
            <a:endParaRPr lang="en-US" sz="1400" dirty="0"/>
          </a:p>
        </p:txBody>
      </p:sp>
      <p:sp>
        <p:nvSpPr>
          <p:cNvPr id="46" name="Shape 46"/>
          <p:cNvSpPr/>
          <p:nvPr/>
        </p:nvSpPr>
        <p:spPr>
          <a:xfrm>
            <a:off x="640080" y="1691640"/>
            <a:ext cx="10881360" cy="914400"/>
          </a:xfrm>
          <a:prstGeom prst="roundRect">
            <a:avLst>
              <a:gd name="adj" fmla="val 2222"/>
            </a:avLst>
          </a:prstGeom>
          <a:solidFill>
            <a:srgbClr val="FBF6F2"/>
          </a:solidFill>
          <a:ln w="12700">
            <a:solidFill>
              <a:srgbClr val="E8DFD6"/>
            </a:solidFill>
            <a:prstDash val="solid"/>
          </a:ln>
        </p:spPr>
      </p:sp>
      <p:sp>
        <p:nvSpPr>
          <p:cNvPr id="47" name="Shape 47"/>
          <p:cNvSpPr/>
          <p:nvPr/>
        </p:nvSpPr>
        <p:spPr>
          <a:xfrm>
            <a:off x="896112" y="1901952"/>
            <a:ext cx="420624" cy="420624"/>
          </a:xfrm>
          <a:prstGeom prst="ellipse">
            <a:avLst/>
          </a:prstGeom>
          <a:solidFill>
            <a:srgbClr val="8A8F94"/>
          </a:solidFill>
          <a:ln/>
        </p:spPr>
      </p:sp>
      <p:sp>
        <p:nvSpPr>
          <p:cNvPr id="48" name="Text 48"/>
          <p:cNvSpPr/>
          <p:nvPr/>
        </p:nvSpPr>
        <p:spPr>
          <a:xfrm>
            <a:off x="896112" y="19019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9" name="Text 49"/>
          <p:cNvSpPr/>
          <p:nvPr/>
        </p:nvSpPr>
        <p:spPr>
          <a:xfrm>
            <a:off x="1508760" y="180136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Dashhboard — empty</a:t>
            </a:r>
            <a:endParaRPr lang="en-US" sz="1500" dirty="0"/>
          </a:p>
        </p:txBody>
      </p:sp>
      <p:sp>
        <p:nvSpPr>
          <p:cNvPr id="50" name="Text 50"/>
          <p:cNvSpPr/>
          <p:nvPr/>
        </p:nvSpPr>
        <p:spPr>
          <a:xfrm>
            <a:off x="1508760" y="211226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An unfinished page showing the word "Dashboard". Spelled with two h’s in the sidebar. Nothing is wrong with your panel.</a:t>
            </a:r>
            <a:endParaRPr lang="en-US" sz="1250" dirty="0"/>
          </a:p>
        </p:txBody>
      </p:sp>
      <p:sp>
        <p:nvSpPr>
          <p:cNvPr id="51" name="Shape 51"/>
          <p:cNvSpPr/>
          <p:nvPr/>
        </p:nvSpPr>
        <p:spPr>
          <a:xfrm>
            <a:off x="640080" y="2697480"/>
            <a:ext cx="10881360" cy="914400"/>
          </a:xfrm>
          <a:prstGeom prst="roundRect">
            <a:avLst>
              <a:gd name="adj" fmla="val 2222"/>
            </a:avLst>
          </a:prstGeom>
          <a:solidFill>
            <a:srgbClr val="FBF6F2"/>
          </a:solidFill>
          <a:ln w="12700">
            <a:solidFill>
              <a:srgbClr val="E8DFD6"/>
            </a:solidFill>
            <a:prstDash val="solid"/>
          </a:ln>
        </p:spPr>
      </p:sp>
      <p:sp>
        <p:nvSpPr>
          <p:cNvPr id="52" name="Shape 52"/>
          <p:cNvSpPr/>
          <p:nvPr/>
        </p:nvSpPr>
        <p:spPr>
          <a:xfrm>
            <a:off x="896112" y="2907792"/>
            <a:ext cx="420624" cy="420624"/>
          </a:xfrm>
          <a:prstGeom prst="ellipse">
            <a:avLst/>
          </a:prstGeom>
          <a:solidFill>
            <a:srgbClr val="B85042"/>
          </a:solidFill>
          <a:ln/>
        </p:spPr>
      </p:sp>
      <p:sp>
        <p:nvSpPr>
          <p:cNvPr id="53" name="Text 53"/>
          <p:cNvSpPr/>
          <p:nvPr/>
        </p:nvSpPr>
        <p:spPr>
          <a:xfrm>
            <a:off x="896112" y="290779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54" name="Text 54"/>
          <p:cNvSpPr/>
          <p:nvPr/>
        </p:nvSpPr>
        <p:spPr>
          <a:xfrm>
            <a:off x="1508760" y="280720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Main Info</a:t>
            </a:r>
            <a:endParaRPr lang="en-US" sz="1500" dirty="0"/>
          </a:p>
        </p:txBody>
      </p:sp>
      <p:sp>
        <p:nvSpPr>
          <p:cNvPr id="55" name="Text 55"/>
          <p:cNvSpPr/>
          <p:nvPr/>
        </p:nvSpPr>
        <p:spPr>
          <a:xfrm>
            <a:off x="1508760" y="311810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The gym’s own settings — logo, description, photos, rules, fees.</a:t>
            </a:r>
            <a:endParaRPr lang="en-US" sz="1250" dirty="0"/>
          </a:p>
        </p:txBody>
      </p:sp>
      <p:sp>
        <p:nvSpPr>
          <p:cNvPr id="56" name="Shape 56"/>
          <p:cNvSpPr/>
          <p:nvPr/>
        </p:nvSpPr>
        <p:spPr>
          <a:xfrm>
            <a:off x="640080" y="3703320"/>
            <a:ext cx="10881360" cy="914400"/>
          </a:xfrm>
          <a:prstGeom prst="roundRect">
            <a:avLst>
              <a:gd name="adj" fmla="val 2222"/>
            </a:avLst>
          </a:prstGeom>
          <a:solidFill>
            <a:srgbClr val="FBF6F2"/>
          </a:solidFill>
          <a:ln w="12700">
            <a:solidFill>
              <a:srgbClr val="E8DFD6"/>
            </a:solidFill>
            <a:prstDash val="solid"/>
          </a:ln>
        </p:spPr>
      </p:sp>
      <p:sp>
        <p:nvSpPr>
          <p:cNvPr id="57" name="Shape 57"/>
          <p:cNvSpPr/>
          <p:nvPr/>
        </p:nvSpPr>
        <p:spPr>
          <a:xfrm>
            <a:off x="896112" y="3913632"/>
            <a:ext cx="420624" cy="420624"/>
          </a:xfrm>
          <a:prstGeom prst="ellipse">
            <a:avLst/>
          </a:prstGeom>
          <a:solidFill>
            <a:srgbClr val="B85042"/>
          </a:solidFill>
          <a:ln/>
        </p:spPr>
      </p:sp>
      <p:sp>
        <p:nvSpPr>
          <p:cNvPr id="58" name="Text 58"/>
          <p:cNvSpPr/>
          <p:nvPr/>
        </p:nvSpPr>
        <p:spPr>
          <a:xfrm>
            <a:off x="896112" y="39136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59" name="Text 59"/>
          <p:cNvSpPr/>
          <p:nvPr/>
        </p:nvSpPr>
        <p:spPr>
          <a:xfrm>
            <a:off x="1508760" y="381304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Subscription Plans</a:t>
            </a:r>
            <a:endParaRPr lang="en-US" sz="1500" dirty="0"/>
          </a:p>
        </p:txBody>
      </p:sp>
      <p:sp>
        <p:nvSpPr>
          <p:cNvPr id="60" name="Text 60"/>
          <p:cNvSpPr/>
          <p:nvPr/>
        </p:nvSpPr>
        <p:spPr>
          <a:xfrm>
            <a:off x="1508760" y="412394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The plans members can buy, and everything each plan includes.</a:t>
            </a:r>
            <a:endParaRPr lang="en-US" sz="1250" dirty="0"/>
          </a:p>
        </p:txBody>
      </p:sp>
      <p:sp>
        <p:nvSpPr>
          <p:cNvPr id="61" name="Shape 61"/>
          <p:cNvSpPr/>
          <p:nvPr/>
        </p:nvSpPr>
        <p:spPr>
          <a:xfrm>
            <a:off x="640080" y="4709160"/>
            <a:ext cx="10881360" cy="914400"/>
          </a:xfrm>
          <a:prstGeom prst="roundRect">
            <a:avLst>
              <a:gd name="adj" fmla="val 2222"/>
            </a:avLst>
          </a:prstGeom>
          <a:solidFill>
            <a:srgbClr val="FBF6F2"/>
          </a:solidFill>
          <a:ln w="12700">
            <a:solidFill>
              <a:srgbClr val="E8DFD6"/>
            </a:solidFill>
            <a:prstDash val="solid"/>
          </a:ln>
        </p:spPr>
      </p:sp>
      <p:sp>
        <p:nvSpPr>
          <p:cNvPr id="62" name="Shape 62"/>
          <p:cNvSpPr/>
          <p:nvPr/>
        </p:nvSpPr>
        <p:spPr>
          <a:xfrm>
            <a:off x="896112" y="4919472"/>
            <a:ext cx="420624" cy="420624"/>
          </a:xfrm>
          <a:prstGeom prst="ellipse">
            <a:avLst/>
          </a:prstGeom>
          <a:solidFill>
            <a:srgbClr val="B85042"/>
          </a:solidFill>
          <a:ln/>
        </p:spPr>
      </p:sp>
      <p:sp>
        <p:nvSpPr>
          <p:cNvPr id="63" name="Text 63"/>
          <p:cNvSpPr/>
          <p:nvPr/>
        </p:nvSpPr>
        <p:spPr>
          <a:xfrm>
            <a:off x="896112" y="49194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64" name="Text 64"/>
          <p:cNvSpPr/>
          <p:nvPr/>
        </p:nvSpPr>
        <p:spPr>
          <a:xfrm>
            <a:off x="1508760" y="481888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Subscription Plan Bookings</a:t>
            </a:r>
            <a:endParaRPr lang="en-US" sz="1500" dirty="0"/>
          </a:p>
        </p:txBody>
      </p:sp>
      <p:sp>
        <p:nvSpPr>
          <p:cNvPr id="65" name="Text 65"/>
          <p:cNvSpPr/>
          <p:nvPr/>
        </p:nvSpPr>
        <p:spPr>
          <a:xfrm>
            <a:off x="1508760" y="512978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Two tabs: who has bought what, and members asking to cancel.</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6" name="Text 66"/>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Setting the gym up</a:t>
            </a:r>
            <a:endParaRPr lang="en-US" sz="3400" dirty="0"/>
          </a:p>
        </p:txBody>
      </p:sp>
      <p:sp>
        <p:nvSpPr>
          <p:cNvPr id="67" name="Text 67"/>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Out of order causes avoidable problems. Follow this sequence.</a:t>
            </a:r>
            <a:endParaRPr lang="en-US" sz="1400" dirty="0"/>
          </a:p>
        </p:txBody>
      </p:sp>
      <p:sp>
        <p:nvSpPr>
          <p:cNvPr id="68" name="Shape 68"/>
          <p:cNvSpPr/>
          <p:nvPr/>
        </p:nvSpPr>
        <p:spPr>
          <a:xfrm>
            <a:off x="640080" y="1600200"/>
            <a:ext cx="10881360" cy="704088"/>
          </a:xfrm>
          <a:prstGeom prst="roundRect">
            <a:avLst>
              <a:gd name="adj" fmla="val 2222"/>
            </a:avLst>
          </a:prstGeom>
          <a:solidFill>
            <a:srgbClr val="FBF6F2"/>
          </a:solidFill>
          <a:ln w="12700">
            <a:solidFill>
              <a:srgbClr val="E8DFD6"/>
            </a:solidFill>
            <a:prstDash val="solid"/>
          </a:ln>
        </p:spPr>
      </p:sp>
      <p:sp>
        <p:nvSpPr>
          <p:cNvPr id="69" name="Shape 69"/>
          <p:cNvSpPr/>
          <p:nvPr/>
        </p:nvSpPr>
        <p:spPr>
          <a:xfrm>
            <a:off x="896112" y="1810512"/>
            <a:ext cx="420624" cy="420624"/>
          </a:xfrm>
          <a:prstGeom prst="ellipse">
            <a:avLst/>
          </a:prstGeom>
          <a:solidFill>
            <a:srgbClr val="B85042"/>
          </a:solidFill>
          <a:ln/>
        </p:spPr>
      </p:sp>
      <p:sp>
        <p:nvSpPr>
          <p:cNvPr id="70" name="Text 70"/>
          <p:cNvSpPr/>
          <p:nvPr/>
        </p:nvSpPr>
        <p:spPr>
          <a:xfrm>
            <a:off x="896112" y="181051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1" name="Text 71"/>
          <p:cNvSpPr/>
          <p:nvPr/>
        </p:nvSpPr>
        <p:spPr>
          <a:xfrm>
            <a:off x="1508760" y="170992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Fill in Main Info</a:t>
            </a:r>
            <a:endParaRPr lang="en-US" sz="1500" dirty="0"/>
          </a:p>
        </p:txBody>
      </p:sp>
      <p:sp>
        <p:nvSpPr>
          <p:cNvPr id="72" name="Text 72"/>
          <p:cNvSpPr/>
          <p:nvPr/>
        </p:nvSpPr>
        <p:spPr>
          <a:xfrm>
            <a:off x="1508760" y="202082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Logo, About GYM, the Odoo and Paymob IDs, contact number, minimum age, cancellation fees.</a:t>
            </a:r>
            <a:endParaRPr lang="en-US" sz="1250" dirty="0"/>
          </a:p>
        </p:txBody>
      </p:sp>
      <p:sp>
        <p:nvSpPr>
          <p:cNvPr id="73" name="Shape 73"/>
          <p:cNvSpPr/>
          <p:nvPr/>
        </p:nvSpPr>
        <p:spPr>
          <a:xfrm>
            <a:off x="640080" y="2395728"/>
            <a:ext cx="10881360" cy="704088"/>
          </a:xfrm>
          <a:prstGeom prst="roundRect">
            <a:avLst>
              <a:gd name="adj" fmla="val 2222"/>
            </a:avLst>
          </a:prstGeom>
          <a:solidFill>
            <a:srgbClr val="FBF6F2"/>
          </a:solidFill>
          <a:ln w="12700">
            <a:solidFill>
              <a:srgbClr val="E8DFD6"/>
            </a:solidFill>
            <a:prstDash val="solid"/>
          </a:ln>
        </p:spPr>
      </p:sp>
      <p:sp>
        <p:nvSpPr>
          <p:cNvPr id="74" name="Shape 74"/>
          <p:cNvSpPr/>
          <p:nvPr/>
        </p:nvSpPr>
        <p:spPr>
          <a:xfrm>
            <a:off x="896112" y="2606040"/>
            <a:ext cx="420624" cy="420624"/>
          </a:xfrm>
          <a:prstGeom prst="ellipse">
            <a:avLst/>
          </a:prstGeom>
          <a:solidFill>
            <a:srgbClr val="B85042"/>
          </a:solidFill>
          <a:ln/>
        </p:spPr>
      </p:sp>
      <p:sp>
        <p:nvSpPr>
          <p:cNvPr id="75" name="Text 75"/>
          <p:cNvSpPr/>
          <p:nvPr/>
        </p:nvSpPr>
        <p:spPr>
          <a:xfrm>
            <a:off x="896112" y="260604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6" name="Text 76"/>
          <p:cNvSpPr/>
          <p:nvPr/>
        </p:nvSpPr>
        <p:spPr>
          <a:xfrm>
            <a:off x="1508760" y="2505456"/>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Write the rules and the policy</a:t>
            </a:r>
            <a:endParaRPr lang="en-US" sz="1500" dirty="0"/>
          </a:p>
        </p:txBody>
      </p:sp>
      <p:sp>
        <p:nvSpPr>
          <p:cNvPr id="77" name="Text 77"/>
          <p:cNvSpPr/>
          <p:nvPr/>
        </p:nvSpPr>
        <p:spPr>
          <a:xfrm>
            <a:off x="1508760" y="2816352"/>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Members read both before they buy.</a:t>
            </a:r>
            <a:endParaRPr lang="en-US" sz="1250" dirty="0"/>
          </a:p>
        </p:txBody>
      </p:sp>
      <p:sp>
        <p:nvSpPr>
          <p:cNvPr id="78" name="Shape 78"/>
          <p:cNvSpPr/>
          <p:nvPr/>
        </p:nvSpPr>
        <p:spPr>
          <a:xfrm>
            <a:off x="640080" y="3191256"/>
            <a:ext cx="10881360" cy="704088"/>
          </a:xfrm>
          <a:prstGeom prst="roundRect">
            <a:avLst>
              <a:gd name="adj" fmla="val 2222"/>
            </a:avLst>
          </a:prstGeom>
          <a:solidFill>
            <a:srgbClr val="FBF6F2"/>
          </a:solidFill>
          <a:ln w="12700">
            <a:solidFill>
              <a:srgbClr val="E8DFD6"/>
            </a:solidFill>
            <a:prstDash val="solid"/>
          </a:ln>
        </p:spPr>
      </p:sp>
      <p:sp>
        <p:nvSpPr>
          <p:cNvPr id="79" name="Shape 79"/>
          <p:cNvSpPr/>
          <p:nvPr/>
        </p:nvSpPr>
        <p:spPr>
          <a:xfrm>
            <a:off x="896112" y="3401568"/>
            <a:ext cx="420624" cy="420624"/>
          </a:xfrm>
          <a:prstGeom prst="ellipse">
            <a:avLst/>
          </a:prstGeom>
          <a:solidFill>
            <a:srgbClr val="B85042"/>
          </a:solidFill>
          <a:ln/>
        </p:spPr>
      </p:sp>
      <p:sp>
        <p:nvSpPr>
          <p:cNvPr id="80" name="Text 80"/>
          <p:cNvSpPr/>
          <p:nvPr/>
        </p:nvSpPr>
        <p:spPr>
          <a:xfrm>
            <a:off x="896112" y="34015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81" name="Text 81"/>
          <p:cNvSpPr/>
          <p:nvPr/>
        </p:nvSpPr>
        <p:spPr>
          <a:xfrm>
            <a:off x="1508760" y="3300984"/>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Add the gallery photos</a:t>
            </a:r>
            <a:endParaRPr lang="en-US" sz="1500" dirty="0"/>
          </a:p>
        </p:txBody>
      </p:sp>
      <p:sp>
        <p:nvSpPr>
          <p:cNvPr id="82" name="Text 82"/>
          <p:cNvSpPr/>
          <p:nvPr/>
        </p:nvSpPr>
        <p:spPr>
          <a:xfrm>
            <a:off x="1508760" y="3611880"/>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The pictures on the gym’s screen, in the order you drag them into.</a:t>
            </a:r>
            <a:endParaRPr lang="en-US" sz="1250" dirty="0"/>
          </a:p>
        </p:txBody>
      </p:sp>
      <p:sp>
        <p:nvSpPr>
          <p:cNvPr id="83" name="Shape 83"/>
          <p:cNvSpPr/>
          <p:nvPr/>
        </p:nvSpPr>
        <p:spPr>
          <a:xfrm>
            <a:off x="640080" y="3986784"/>
            <a:ext cx="10881360" cy="704088"/>
          </a:xfrm>
          <a:prstGeom prst="roundRect">
            <a:avLst>
              <a:gd name="adj" fmla="val 2222"/>
            </a:avLst>
          </a:prstGeom>
          <a:solidFill>
            <a:srgbClr val="FBF6F2"/>
          </a:solidFill>
          <a:ln w="12700">
            <a:solidFill>
              <a:srgbClr val="E8DFD6"/>
            </a:solidFill>
            <a:prstDash val="solid"/>
          </a:ln>
        </p:spPr>
      </p:sp>
      <p:sp>
        <p:nvSpPr>
          <p:cNvPr id="84" name="Shape 84"/>
          <p:cNvSpPr/>
          <p:nvPr/>
        </p:nvSpPr>
        <p:spPr>
          <a:xfrm>
            <a:off x="896112" y="4197096"/>
            <a:ext cx="420624" cy="420624"/>
          </a:xfrm>
          <a:prstGeom prst="ellipse">
            <a:avLst/>
          </a:prstGeom>
          <a:solidFill>
            <a:srgbClr val="B85042"/>
          </a:solidFill>
          <a:ln/>
        </p:spPr>
      </p:sp>
      <p:sp>
        <p:nvSpPr>
          <p:cNvPr id="85" name="Text 85"/>
          <p:cNvSpPr/>
          <p:nvPr/>
        </p:nvSpPr>
        <p:spPr>
          <a:xfrm>
            <a:off x="896112" y="41970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86" name="Text 86"/>
          <p:cNvSpPr/>
          <p:nvPr/>
        </p:nvSpPr>
        <p:spPr>
          <a:xfrm>
            <a:off x="1508760" y="4096512"/>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Create the subscription plans</a:t>
            </a:r>
            <a:endParaRPr lang="en-US" sz="1500" dirty="0"/>
          </a:p>
        </p:txBody>
      </p:sp>
      <p:sp>
        <p:nvSpPr>
          <p:cNvPr id="87" name="Text 87"/>
          <p:cNvSpPr/>
          <p:nvPr/>
        </p:nvSpPr>
        <p:spPr>
          <a:xfrm>
            <a:off x="1508760" y="4407408"/>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One per length of membership you sell.</a:t>
            </a:r>
            <a:endParaRPr lang="en-US" sz="1250" dirty="0"/>
          </a:p>
        </p:txBody>
      </p:sp>
      <p:sp>
        <p:nvSpPr>
          <p:cNvPr id="88" name="Shape 88"/>
          <p:cNvSpPr/>
          <p:nvPr/>
        </p:nvSpPr>
        <p:spPr>
          <a:xfrm>
            <a:off x="640080" y="4782312"/>
            <a:ext cx="10881360" cy="704088"/>
          </a:xfrm>
          <a:prstGeom prst="roundRect">
            <a:avLst>
              <a:gd name="adj" fmla="val 2222"/>
            </a:avLst>
          </a:prstGeom>
          <a:solidFill>
            <a:srgbClr val="FBF6F2"/>
          </a:solidFill>
          <a:ln w="12700">
            <a:solidFill>
              <a:srgbClr val="E8DFD6"/>
            </a:solidFill>
            <a:prstDash val="solid"/>
          </a:ln>
        </p:spPr>
      </p:sp>
      <p:sp>
        <p:nvSpPr>
          <p:cNvPr id="89" name="Shape 89"/>
          <p:cNvSpPr/>
          <p:nvPr/>
        </p:nvSpPr>
        <p:spPr>
          <a:xfrm>
            <a:off x="896112" y="4992624"/>
            <a:ext cx="420624" cy="420624"/>
          </a:xfrm>
          <a:prstGeom prst="ellipse">
            <a:avLst/>
          </a:prstGeom>
          <a:solidFill>
            <a:srgbClr val="B85042"/>
          </a:solidFill>
          <a:ln/>
        </p:spPr>
      </p:sp>
      <p:sp>
        <p:nvSpPr>
          <p:cNvPr id="90" name="Text 90"/>
          <p:cNvSpPr/>
          <p:nvPr/>
        </p:nvSpPr>
        <p:spPr>
          <a:xfrm>
            <a:off x="896112" y="49926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91" name="Text 91"/>
          <p:cNvSpPr/>
          <p:nvPr/>
        </p:nvSpPr>
        <p:spPr>
          <a:xfrm>
            <a:off x="1508760" y="4892040"/>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Switch each plan on</a:t>
            </a:r>
            <a:endParaRPr lang="en-US" sz="1500" dirty="0"/>
          </a:p>
        </p:txBody>
      </p:sp>
      <p:sp>
        <p:nvSpPr>
          <p:cNvPr id="92" name="Text 92"/>
          <p:cNvSpPr/>
          <p:nvPr/>
        </p:nvSpPr>
        <p:spPr>
          <a:xfrm>
            <a:off x="1508760" y="5202936"/>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Only once you are happy with its numbers — four of them lock on save.</a:t>
            </a:r>
            <a:endParaRPr lang="en-US" sz="1250" dirty="0"/>
          </a:p>
        </p:txBody>
      </p:sp>
      <p:sp>
        <p:nvSpPr>
          <p:cNvPr id="93" name="Shape 93"/>
          <p:cNvSpPr/>
          <p:nvPr/>
        </p:nvSpPr>
        <p:spPr>
          <a:xfrm>
            <a:off x="640080" y="5577840"/>
            <a:ext cx="10881360" cy="704088"/>
          </a:xfrm>
          <a:prstGeom prst="roundRect">
            <a:avLst>
              <a:gd name="adj" fmla="val 2222"/>
            </a:avLst>
          </a:prstGeom>
          <a:solidFill>
            <a:srgbClr val="FBF6F2"/>
          </a:solidFill>
          <a:ln w="12700">
            <a:solidFill>
              <a:srgbClr val="E8DFD6"/>
            </a:solidFill>
            <a:prstDash val="solid"/>
          </a:ln>
        </p:spPr>
      </p:sp>
      <p:sp>
        <p:nvSpPr>
          <p:cNvPr id="94" name="Shape 94"/>
          <p:cNvSpPr/>
          <p:nvPr/>
        </p:nvSpPr>
        <p:spPr>
          <a:xfrm>
            <a:off x="896112" y="5788152"/>
            <a:ext cx="420624" cy="420624"/>
          </a:xfrm>
          <a:prstGeom prst="ellipse">
            <a:avLst/>
          </a:prstGeom>
          <a:solidFill>
            <a:srgbClr val="B85042"/>
          </a:solidFill>
          <a:ln/>
        </p:spPr>
      </p:sp>
      <p:sp>
        <p:nvSpPr>
          <p:cNvPr id="95" name="Text 95"/>
          <p:cNvSpPr/>
          <p:nvPr/>
        </p:nvSpPr>
        <p:spPr>
          <a:xfrm>
            <a:off x="896112" y="57881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96" name="Text 96"/>
          <p:cNvSpPr/>
          <p:nvPr/>
        </p:nvSpPr>
        <p:spPr>
          <a:xfrm>
            <a:off x="1508760" y="568756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Watch the Bookings screen</a:t>
            </a:r>
            <a:endParaRPr lang="en-US" sz="1500" dirty="0"/>
          </a:p>
        </p:txBody>
      </p:sp>
      <p:sp>
        <p:nvSpPr>
          <p:cNvPr id="97" name="Text 97"/>
          <p:cNvSpPr/>
          <p:nvPr/>
        </p:nvSpPr>
        <p:spPr>
          <a:xfrm>
            <a:off x="1508760" y="599846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Members buy, and cancellation requests arrive on the second tab.</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8" name="Text 98"/>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What you set → what the member sees</a:t>
            </a:r>
            <a:endParaRPr lang="en-US" sz="3400" dirty="0"/>
          </a:p>
        </p:txBody>
      </p:sp>
      <p:sp>
        <p:nvSpPr>
          <p:cNvPr id="99" name="Text 99"/>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The heart of the guide. Every field has one visible effect on the phone.</a:t>
            </a:r>
            <a:endParaRPr lang="en-US" sz="1400" dirty="0"/>
          </a:p>
        </p:txBody>
      </p:sp>
      <p:graphicFrame>
        <p:nvGraphicFramePr>
          <p:cNvPr id="100" name="Table 100"/>
          <p:cNvGraphicFramePr>
            <a:graphicFrameLocks noGrp="1"/>
          </p:cNvGraphicFramePr>
          <p:nvPr/>
        </p:nvGraphicFramePr>
        <p:xfrm>
          <a:off x="640080" y="1554480"/>
          <a:ext cx="10881360" cy="4818888"/>
        </p:xfrm>
        <a:graphic>
          <a:graphicData uri="http://schemas.openxmlformats.org/drawingml/2006/table">
            <a:tbl>
              <a:tblPr/>
              <a:tblGrid>
                <a:gridCol w="402336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tblGrid>
              <a:tr h="28346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You set</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The member sees</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extLst>
                  <a:ext uri="{0D108BD9-81ED-4DB2-BD59-A6C34878D82A}">
                    <a16:rowId xmlns:a16="http://schemas.microsoft.com/office/drawing/2014/main" val="10000"/>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GYM Logo</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gym’s icon in the app</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1"/>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About GYM</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description on the gym’s main screen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2"/>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Gallery photos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photo carousel, in the order you arrange them</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3"/>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Rules And Regulations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rules they can open and read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4"/>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Cancellation Policy</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policy they read before cancelling</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5"/>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Minimum Age to Book</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Members under that age cannot book</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6"/>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 plan’s Name and Description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title and text on the plan card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7"/>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 plan’s Price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price on the plan card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8"/>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 plan’s Discounted Price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new price, with the old one crossed out</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9"/>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 plan’s Save Percentage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"save X%" badge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0"/>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 plan’s Duration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number of days, and how long the membership lasts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1"/>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 plan’s Status switched off</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plan disappears from the app completely</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2"/>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Dragging plan rows to reorder</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same order in the app</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3"/>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An Arabic translation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Arabic text for members using the app in Arabic</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4"/>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Total Freeze / Min Freeze / Guest Invitations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Nothing — these are not currently shown to members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5"/>
                  </a:ext>
                </a:extLst>
              </a:tr>
              <a:tr h="283464">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Accepting a cancellation request</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Their subscription ends; the refund you typed reaches their wallet</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85042"/>
        </a:solidFill>
        <a:effectLst/>
      </p:bgPr>
    </p:bg>
    <p:spTree>
      <p:nvGrpSpPr>
        <p:cNvPr id="1" name=""/>
        <p:cNvGrpSpPr/>
        <p:nvPr/>
      </p:nvGrpSpPr>
      <p:grpSpPr>
        <a:xfrm>
          <a:off x="0" y="0"/>
          <a:ext cx="0" cy="0"/>
          <a:chOff x="0" y="0"/>
          <a:chExt cx="0" cy="0"/>
        </a:xfrm>
      </p:grpSpPr>
      <p:sp>
        <p:nvSpPr>
          <p:cNvPr id="101" name="Shape 101"/>
          <p:cNvSpPr/>
          <p:nvPr/>
        </p:nvSpPr>
        <p:spPr>
          <a:xfrm>
            <a:off x="9326880" y="1005840"/>
            <a:ext cx="4206240" cy="4206240"/>
          </a:xfrm>
          <a:prstGeom prst="ellipse">
            <a:avLst/>
          </a:prstGeom>
          <a:solidFill>
            <a:srgbClr val="FFFFFF">
              <a:alpha val="12000"/>
            </a:srgbClr>
          </a:solidFill>
          <a:ln/>
        </p:spPr>
      </p:sp>
      <p:sp>
        <p:nvSpPr>
          <p:cNvPr id="102" name="Text 102"/>
          <p:cNvSpPr/>
          <p:nvPr/>
        </p:nvSpPr>
        <p:spPr>
          <a:xfrm>
            <a:off x="640080" y="2286000"/>
            <a:ext cx="7315200" cy="384048"/>
          </a:xfrm>
          <a:prstGeom prst="rect">
            <a:avLst/>
          </a:prstGeom>
          <a:noFill/>
          <a:ln/>
        </p:spPr>
        <p:txBody>
          <a:bodyPr wrap="square" lIns="0" tIns="0" rIns="0" bIns="0" rtlCol="0" anchor="ctr"/>
          <a:lstStyle/>
          <a:p>
            <a:pPr marL="0" indent="0">
              <a:buNone/>
            </a:pPr>
            <a:r>
              <a:rPr lang="en-US" sz="1400" b="1" kern="0" spc="300" dirty="0">
                <a:solidFill>
                  <a:srgbClr val="E7E8D1"/>
                </a:solidFill>
                <a:latin typeface="Calibri" pitchFamily="34" charset="0"/>
                <a:ea typeface="Calibri" pitchFamily="34" charset="-122"/>
                <a:cs typeface="Calibri" pitchFamily="34" charset="-120"/>
              </a:rPr>
              <a:t>Part 1</a:t>
            </a:r>
            <a:endParaRPr lang="en-US" sz="1400" dirty="0"/>
          </a:p>
        </p:txBody>
      </p:sp>
      <p:sp>
        <p:nvSpPr>
          <p:cNvPr id="103" name="Text 103"/>
          <p:cNvSpPr/>
          <p:nvPr/>
        </p:nvSpPr>
        <p:spPr>
          <a:xfrm>
            <a:off x="640080" y="2697480"/>
            <a:ext cx="8229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Main Info</a:t>
            </a:r>
            <a:endParaRPr lang="en-US" sz="4800" dirty="0"/>
          </a:p>
        </p:txBody>
      </p:sp>
      <p:sp>
        <p:nvSpPr>
          <p:cNvPr id="104" name="Text 104"/>
          <p:cNvSpPr/>
          <p:nvPr/>
        </p:nvSpPr>
        <p:spPr>
          <a:xfrm>
            <a:off x="640080" y="3657600"/>
            <a:ext cx="7863840" cy="640080"/>
          </a:xfrm>
          <a:prstGeom prst="rect">
            <a:avLst/>
          </a:prstGeom>
          <a:noFill/>
          <a:ln/>
        </p:spPr>
        <p:txBody>
          <a:bodyPr wrap="square" lIns="0" tIns="0" rIns="0" bIns="0" rtlCol="0" anchor="ctr"/>
          <a:lstStyle/>
          <a:p>
            <a:pPr marL="0" indent="0">
              <a:buNone/>
            </a:pPr>
            <a:r>
              <a:rPr lang="en-US" sz="1700" dirty="0">
                <a:solidFill>
                  <a:srgbClr val="E7E8D1"/>
                </a:solidFill>
                <a:latin typeface="Calibri" pitchFamily="34" charset="0"/>
                <a:ea typeface="Calibri" pitchFamily="34" charset="-122"/>
                <a:cs typeface="Calibri" pitchFamily="34" charset="-120"/>
              </a:rPr>
              <a:t>The gym’s own settings — one screen, three panels, one Save button.</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5" name="Text 105"/>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details panel</a:t>
            </a:r>
            <a:endParaRPr lang="en-US" sz="3400" dirty="0"/>
          </a:p>
        </p:txBody>
      </p:sp>
      <p:sp>
        <p:nvSpPr>
          <p:cNvPr id="106" name="Text 106"/>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Headed "Sport Details". Nine fields, and every one of them is required.</a:t>
            </a:r>
            <a:endParaRPr lang="en-US" sz="1400" dirty="0"/>
          </a:p>
        </p:txBody>
      </p:sp>
      <p:graphicFrame>
        <p:nvGraphicFramePr>
          <p:cNvPr id="107" name="Table 107"/>
          <p:cNvGraphicFramePr>
            <a:graphicFrameLocks noGrp="1"/>
          </p:cNvGraphicFramePr>
          <p:nvPr/>
        </p:nvGraphicFramePr>
        <p:xfrm>
          <a:off x="640080" y="1554480"/>
          <a:ext cx="10881360" cy="3200400"/>
        </p:xfrm>
        <a:graphic>
          <a:graphicData uri="http://schemas.openxmlformats.org/drawingml/2006/table">
            <a:tbl>
              <a:tblPr/>
              <a:tblGrid>
                <a:gridCol w="3474720">
                  <a:extLst>
                    <a:ext uri="{9D8B030D-6E8A-4147-A177-3AD203B41FA5}">
                      <a16:colId xmlns:a16="http://schemas.microsoft.com/office/drawing/2014/main" val="20000"/>
                    </a:ext>
                  </a:extLst>
                </a:gridCol>
                <a:gridCol w="34747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3200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enter</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it affects</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GYM Logo</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An image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gym’s icon in the app</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About GYM</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description members read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About text on the gym’s screen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Subscription Odoo ID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reference from finance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Links subscription sales to accounting</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Drop In Odoo ID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 second reference, for one-off visits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Links drop-in sales to accounting</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4"/>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Paymob ID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gym’s payment account</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Where the gym’s money is paid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5"/>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Phone Number</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10 digits starting 10, 11, 12 or 15</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number members can tap</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6"/>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Minimum Age to Book</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 number from 1 to 100</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Members younger than this cannot book</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7"/>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Fixed Cancellation Fees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 number</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 flat amount kept back on cancellation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8"/>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Percentage Cancellation Fees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 number</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 share of the price kept back</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9"/>
                  </a:ext>
                </a:extLst>
              </a:tr>
            </a:tbl>
          </a:graphicData>
        </a:graphic>
      </p:graphicFrame>
      <p:sp>
        <p:nvSpPr>
          <p:cNvPr id="108" name="Shape 108"/>
          <p:cNvSpPr/>
          <p:nvPr/>
        </p:nvSpPr>
        <p:spPr>
          <a:xfrm>
            <a:off x="640080" y="5029200"/>
            <a:ext cx="10881360" cy="822960"/>
          </a:xfrm>
          <a:prstGeom prst="roundRect">
            <a:avLst>
              <a:gd name="adj" fmla="val 2222"/>
            </a:avLst>
          </a:prstGeom>
          <a:solidFill>
            <a:srgbClr val="F0F4F0"/>
          </a:solidFill>
          <a:ln w="12700">
            <a:solidFill>
              <a:srgbClr val="A7BEAE"/>
            </a:solidFill>
            <a:prstDash val="solid"/>
          </a:ln>
        </p:spPr>
      </p:sp>
      <p:sp>
        <p:nvSpPr>
          <p:cNvPr id="109" name="Text 109"/>
          <p:cNvSpPr/>
          <p:nvPr/>
        </p:nvSpPr>
        <p:spPr>
          <a:xfrm>
            <a:off x="960120" y="513892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Paymob ID decides where the money goes.</a:t>
            </a:r>
            <a:endParaRPr lang="en-US" sz="1450" dirty="0"/>
          </a:p>
        </p:txBody>
      </p:sp>
      <p:sp>
        <p:nvSpPr>
          <p:cNvPr id="110" name="Text 110"/>
          <p:cNvSpPr/>
          <p:nvPr/>
        </p:nvSpPr>
        <p:spPr>
          <a:xfrm>
            <a:off x="960120" y="544982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It is the account the gym’s takings are settled into. Wrong value, wrong bank account, and nothing on screen tells you. Confirm it with finance before saving.</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1" name="Text 111"/>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two cancellation fees</a:t>
            </a:r>
            <a:endParaRPr lang="en-US" sz="3400" dirty="0"/>
          </a:p>
        </p:txBody>
      </p:sp>
      <p:sp>
        <p:nvSpPr>
          <p:cNvPr id="112" name="Text 112"/>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Both exist, both are required, and neither is applied for you.</a:t>
            </a:r>
            <a:endParaRPr lang="en-US" sz="1400" dirty="0"/>
          </a:p>
        </p:txBody>
      </p:sp>
      <p:sp>
        <p:nvSpPr>
          <p:cNvPr id="113" name="Shape 113"/>
          <p:cNvSpPr/>
          <p:nvPr/>
        </p:nvSpPr>
        <p:spPr>
          <a:xfrm>
            <a:off x="640080" y="1691640"/>
            <a:ext cx="5212080" cy="237744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114" name="Text 114"/>
          <p:cNvSpPr/>
          <p:nvPr/>
        </p:nvSpPr>
        <p:spPr>
          <a:xfrm>
            <a:off x="960120" y="1874520"/>
            <a:ext cx="4572000" cy="457200"/>
          </a:xfrm>
          <a:prstGeom prst="rect">
            <a:avLst/>
          </a:prstGeom>
          <a:noFill/>
          <a:ln/>
        </p:spPr>
        <p:txBody>
          <a:bodyPr wrap="square" lIns="0" tIns="0" rIns="0" bIns="0" rtlCol="0" anchor="ctr"/>
          <a:lstStyle/>
          <a:p>
            <a:pPr marL="0" indent="0">
              <a:buNone/>
            </a:pPr>
            <a:r>
              <a:rPr lang="en-US" sz="2600" b="1" dirty="0">
                <a:solidFill>
                  <a:srgbClr val="A7BEAE"/>
                </a:solidFill>
                <a:latin typeface="Cambria" pitchFamily="34" charset="0"/>
                <a:ea typeface="Cambria" pitchFamily="34" charset="-122"/>
                <a:cs typeface="Cambria" pitchFamily="34" charset="-120"/>
              </a:rPr>
              <a:t>Fixed</a:t>
            </a:r>
            <a:endParaRPr lang="en-US" sz="2600" dirty="0"/>
          </a:p>
        </p:txBody>
      </p:sp>
      <p:sp>
        <p:nvSpPr>
          <p:cNvPr id="115" name="Text 115"/>
          <p:cNvSpPr/>
          <p:nvPr/>
        </p:nvSpPr>
        <p:spPr>
          <a:xfrm>
            <a:off x="960120" y="2395728"/>
            <a:ext cx="4572000"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A flat, non-refundable amount.</a:t>
            </a:r>
            <a:endParaRPr lang="en-US" sz="1450" dirty="0"/>
          </a:p>
        </p:txBody>
      </p:sp>
      <p:sp>
        <p:nvSpPr>
          <p:cNvPr id="116" name="Text 116"/>
          <p:cNvSpPr/>
          <p:nvPr/>
        </p:nvSpPr>
        <p:spPr>
          <a:xfrm>
            <a:off x="960120" y="3017520"/>
            <a:ext cx="4572000" cy="548640"/>
          </a:xfrm>
          <a:prstGeom prst="rect">
            <a:avLst/>
          </a:prstGeom>
          <a:noFill/>
          <a:ln/>
        </p:spPr>
        <p:txBody>
          <a:bodyPr wrap="square" lIns="0" tIns="0" rIns="0" bIns="0" rtlCol="0" anchor="ctr"/>
          <a:lstStyle/>
          <a:p>
            <a:pPr marL="0" indent="0">
              <a:buNone/>
            </a:pPr>
            <a:r>
              <a:rPr lang="en-US" sz="1300" dirty="0">
                <a:solidFill>
                  <a:srgbClr val="E7E8D1"/>
                </a:solidFill>
                <a:latin typeface="Calibri" pitchFamily="34" charset="0"/>
                <a:ea typeface="Calibri" pitchFamily="34" charset="-122"/>
                <a:cs typeface="Calibri" pitchFamily="34" charset="-120"/>
              </a:rPr>
              <a:t>The same figure whatever the plan cost or how far through it the member is.</a:t>
            </a:r>
            <a:endParaRPr lang="en-US" sz="1300" dirty="0"/>
          </a:p>
        </p:txBody>
      </p:sp>
      <p:sp>
        <p:nvSpPr>
          <p:cNvPr id="117" name="Text 117"/>
          <p:cNvSpPr/>
          <p:nvPr/>
        </p:nvSpPr>
        <p:spPr>
          <a:xfrm>
            <a:off x="960120" y="3657600"/>
            <a:ext cx="4572000" cy="365760"/>
          </a:xfrm>
          <a:prstGeom prst="rect">
            <a:avLst/>
          </a:prstGeom>
          <a:noFill/>
          <a:ln/>
        </p:spPr>
        <p:txBody>
          <a:bodyPr wrap="square" lIns="0" tIns="0" rIns="0" bIns="0" rtlCol="0" anchor="ctr"/>
          <a:lstStyle/>
          <a:p>
            <a:pPr marL="0" indent="0">
              <a:buNone/>
            </a:pPr>
            <a:r>
              <a:rPr lang="en-US" sz="1300" i="1" dirty="0">
                <a:solidFill>
                  <a:srgbClr val="A7BEAE"/>
                </a:solidFill>
                <a:latin typeface="Calibri" pitchFamily="34" charset="0"/>
                <a:ea typeface="Calibri" pitchFamily="34" charset="-122"/>
                <a:cs typeface="Calibri" pitchFamily="34" charset="-120"/>
              </a:rPr>
              <a:t>Set once, applied by hand</a:t>
            </a:r>
            <a:endParaRPr lang="en-US" sz="1300" dirty="0"/>
          </a:p>
        </p:txBody>
      </p:sp>
      <p:sp>
        <p:nvSpPr>
          <p:cNvPr id="118" name="Shape 118"/>
          <p:cNvSpPr/>
          <p:nvPr/>
        </p:nvSpPr>
        <p:spPr>
          <a:xfrm>
            <a:off x="6309360" y="1691640"/>
            <a:ext cx="5212080" cy="237744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119" name="Text 119"/>
          <p:cNvSpPr/>
          <p:nvPr/>
        </p:nvSpPr>
        <p:spPr>
          <a:xfrm>
            <a:off x="6629400" y="1874520"/>
            <a:ext cx="4572000" cy="457200"/>
          </a:xfrm>
          <a:prstGeom prst="rect">
            <a:avLst/>
          </a:prstGeom>
          <a:noFill/>
          <a:ln/>
        </p:spPr>
        <p:txBody>
          <a:bodyPr wrap="square" lIns="0" tIns="0" rIns="0" bIns="0"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Percentage</a:t>
            </a:r>
            <a:endParaRPr lang="en-US" sz="2600" dirty="0"/>
          </a:p>
        </p:txBody>
      </p:sp>
      <p:sp>
        <p:nvSpPr>
          <p:cNvPr id="120" name="Text 120"/>
          <p:cNvSpPr/>
          <p:nvPr/>
        </p:nvSpPr>
        <p:spPr>
          <a:xfrm>
            <a:off x="6629400" y="2395728"/>
            <a:ext cx="4572000" cy="548640"/>
          </a:xfrm>
          <a:prstGeom prst="rect">
            <a:avLst/>
          </a:prstGeom>
          <a:noFill/>
          <a:ln/>
        </p:spPr>
        <p:txBody>
          <a:bodyPr wrap="square" lIns="0" tIns="0" rIns="0" bIns="0" rtlCol="0" anchor="ctr"/>
          <a:lstStyle/>
          <a:p>
            <a:pPr marL="0" indent="0">
              <a:buNone/>
            </a:pPr>
            <a:r>
              <a:rPr lang="en-US" sz="1450" b="1" dirty="0">
                <a:solidFill>
                  <a:srgbClr val="2B2321"/>
                </a:solidFill>
                <a:latin typeface="Calibri" pitchFamily="34" charset="0"/>
                <a:ea typeface="Calibri" pitchFamily="34" charset="-122"/>
                <a:cs typeface="Calibri" pitchFamily="34" charset="-120"/>
              </a:rPr>
              <a:t>A non-refundable share of what they paid.</a:t>
            </a:r>
            <a:endParaRPr lang="en-US" sz="1450" dirty="0"/>
          </a:p>
        </p:txBody>
      </p:sp>
      <p:sp>
        <p:nvSpPr>
          <p:cNvPr id="121" name="Text 121"/>
          <p:cNvSpPr/>
          <p:nvPr/>
        </p:nvSpPr>
        <p:spPr>
          <a:xfrm>
            <a:off x="6629400" y="3017520"/>
            <a:ext cx="4572000" cy="548640"/>
          </a:xfrm>
          <a:prstGeom prst="rect">
            <a:avLst/>
          </a:prstGeom>
          <a:noFill/>
          <a:ln/>
        </p:spPr>
        <p:txBody>
          <a:bodyPr wrap="square" lIns="0" tIns="0" rIns="0" bIns="0" rtlCol="0" anchor="ctr"/>
          <a:lstStyle/>
          <a:p>
            <a:pPr marL="0" indent="0">
              <a:buNone/>
            </a:pPr>
            <a:r>
              <a:rPr lang="en-US" sz="1300" dirty="0">
                <a:solidFill>
                  <a:srgbClr val="7A6A64"/>
                </a:solidFill>
                <a:latin typeface="Calibri" pitchFamily="34" charset="0"/>
                <a:ea typeface="Calibri" pitchFamily="34" charset="-122"/>
                <a:cs typeface="Calibri" pitchFamily="34" charset="-120"/>
              </a:rPr>
              <a:t>Scales with the price of the plan they bought.</a:t>
            </a:r>
            <a:endParaRPr lang="en-US" sz="1300" dirty="0"/>
          </a:p>
        </p:txBody>
      </p:sp>
      <p:sp>
        <p:nvSpPr>
          <p:cNvPr id="122" name="Text 122"/>
          <p:cNvSpPr/>
          <p:nvPr/>
        </p:nvSpPr>
        <p:spPr>
          <a:xfrm>
            <a:off x="6629400" y="3657600"/>
            <a:ext cx="4572000" cy="36576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Set once, applied by hand</a:t>
            </a:r>
            <a:endParaRPr lang="en-US" sz="1300" dirty="0"/>
          </a:p>
        </p:txBody>
      </p:sp>
      <p:sp>
        <p:nvSpPr>
          <p:cNvPr id="123" name="Shape 123"/>
          <p:cNvSpPr/>
          <p:nvPr/>
        </p:nvSpPr>
        <p:spPr>
          <a:xfrm>
            <a:off x="640080" y="4389120"/>
            <a:ext cx="10881360" cy="1005840"/>
          </a:xfrm>
          <a:prstGeom prst="roundRect">
            <a:avLst>
              <a:gd name="adj" fmla="val 2222"/>
            </a:avLst>
          </a:prstGeom>
          <a:solidFill>
            <a:srgbClr val="F0F4F0"/>
          </a:solidFill>
          <a:ln w="12700">
            <a:solidFill>
              <a:srgbClr val="A7BEAE"/>
            </a:solidFill>
            <a:prstDash val="solid"/>
          </a:ln>
        </p:spPr>
      </p:sp>
      <p:sp>
        <p:nvSpPr>
          <p:cNvPr id="124" name="Text 124"/>
          <p:cNvSpPr/>
          <p:nvPr/>
        </p:nvSpPr>
        <p:spPr>
          <a:xfrm>
            <a:off x="960120" y="449884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The panel never does this arithmetic for you.</a:t>
            </a:r>
            <a:endParaRPr lang="en-US" sz="1450" dirty="0"/>
          </a:p>
        </p:txBody>
      </p:sp>
      <p:sp>
        <p:nvSpPr>
          <p:cNvPr id="125" name="Text 125"/>
          <p:cNvSpPr/>
          <p:nvPr/>
        </p:nvSpPr>
        <p:spPr>
          <a:xfrm>
            <a:off x="960120" y="480974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When a cancellation request arrives you get the member’s figures and an empty Refund Amount box. These two fields are the policy; you work the number out and type it. Agree the sum with your team and write it down.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6" name="Text 126"/>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Text and photos</a:t>
            </a:r>
            <a:endParaRPr lang="en-US" sz="3400" dirty="0"/>
          </a:p>
        </p:txBody>
      </p:sp>
      <p:sp>
        <p:nvSpPr>
          <p:cNvPr id="127" name="Text 127"/>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The other two panels on Main Info. Both save with the same button.</a:t>
            </a:r>
            <a:endParaRPr lang="en-US" sz="1400" dirty="0"/>
          </a:p>
        </p:txBody>
      </p:sp>
      <p:sp>
        <p:nvSpPr>
          <p:cNvPr id="128" name="Shape 128"/>
          <p:cNvSpPr/>
          <p:nvPr/>
        </p:nvSpPr>
        <p:spPr>
          <a:xfrm>
            <a:off x="640080" y="1691640"/>
            <a:ext cx="3474720" cy="256032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129" name="Text 129"/>
          <p:cNvSpPr/>
          <p:nvPr/>
        </p:nvSpPr>
        <p:spPr>
          <a:xfrm>
            <a:off x="914400" y="1874520"/>
            <a:ext cx="2926080" cy="457200"/>
          </a:xfrm>
          <a:prstGeom prst="rect">
            <a:avLst/>
          </a:prstGeom>
          <a:noFill/>
          <a:ln/>
        </p:spPr>
        <p:txBody>
          <a:bodyPr wrap="square" lIns="0" tIns="0" rIns="0" bIns="0" rtlCol="0" anchor="ctr"/>
          <a:lstStyle/>
          <a:p>
            <a:pPr marL="0" indent="0">
              <a:buNone/>
            </a:pPr>
            <a:r>
              <a:rPr lang="en-US" sz="2000" b="1" dirty="0">
                <a:solidFill>
                  <a:srgbClr val="A7BEAE"/>
                </a:solidFill>
                <a:latin typeface="Cambria" pitchFamily="34" charset="0"/>
                <a:ea typeface="Cambria" pitchFamily="34" charset="-122"/>
                <a:cs typeface="Cambria" pitchFamily="34" charset="-120"/>
              </a:rPr>
              <a:t>Gallery</a:t>
            </a:r>
            <a:endParaRPr lang="en-US" sz="2000" dirty="0"/>
          </a:p>
        </p:txBody>
      </p:sp>
      <p:sp>
        <p:nvSpPr>
          <p:cNvPr id="130" name="Text 130"/>
          <p:cNvSpPr/>
          <p:nvPr/>
        </p:nvSpPr>
        <p:spPr>
          <a:xfrm>
            <a:off x="914400" y="2377440"/>
            <a:ext cx="292608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The photos on the gym’s screen.</a:t>
            </a:r>
            <a:endParaRPr lang="en-US" sz="1350" dirty="0"/>
          </a:p>
        </p:txBody>
      </p:sp>
      <p:sp>
        <p:nvSpPr>
          <p:cNvPr id="131" name="Text 131"/>
          <p:cNvSpPr/>
          <p:nvPr/>
        </p:nvSpPr>
        <p:spPr>
          <a:xfrm>
            <a:off x="914400" y="3108960"/>
            <a:ext cx="2926080" cy="73152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Upload, then drag into order. Members see them in the order you set. Removals only take effect on Save.</a:t>
            </a:r>
            <a:endParaRPr lang="en-US" sz="1250" dirty="0"/>
          </a:p>
        </p:txBody>
      </p:sp>
      <p:sp>
        <p:nvSpPr>
          <p:cNvPr id="132" name="Shape 132"/>
          <p:cNvSpPr/>
          <p:nvPr/>
        </p:nvSpPr>
        <p:spPr>
          <a:xfrm>
            <a:off x="4343400" y="1691640"/>
            <a:ext cx="3474720" cy="256032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133" name="Text 133"/>
          <p:cNvSpPr/>
          <p:nvPr/>
        </p:nvSpPr>
        <p:spPr>
          <a:xfrm>
            <a:off x="4617720" y="1874520"/>
            <a:ext cx="2926080" cy="457200"/>
          </a:xfrm>
          <a:prstGeom prst="rect">
            <a:avLst/>
          </a:prstGeom>
          <a:noFill/>
          <a:ln/>
        </p:spPr>
        <p:txBody>
          <a:bodyPr wrap="square" lIns="0" tIns="0" rIns="0" bIns="0" rtlCol="0" anchor="ctr"/>
          <a:lstStyle/>
          <a:p>
            <a:pPr marL="0" indent="0">
              <a:buNone/>
            </a:pPr>
            <a:r>
              <a:rPr lang="en-US" sz="2000" b="1" dirty="0">
                <a:solidFill>
                  <a:srgbClr val="B85042"/>
                </a:solidFill>
                <a:latin typeface="Cambria" pitchFamily="34" charset="0"/>
                <a:ea typeface="Cambria" pitchFamily="34" charset="-122"/>
                <a:cs typeface="Cambria" pitchFamily="34" charset="-120"/>
              </a:rPr>
              <a:t>Rules And Regulations</a:t>
            </a:r>
            <a:endParaRPr lang="en-US" sz="2000" dirty="0"/>
          </a:p>
        </p:txBody>
      </p:sp>
      <p:sp>
        <p:nvSpPr>
          <p:cNvPr id="134" name="Text 134"/>
          <p:cNvSpPr/>
          <p:nvPr/>
        </p:nvSpPr>
        <p:spPr>
          <a:xfrm>
            <a:off x="4617720" y="2377440"/>
            <a:ext cx="2926080" cy="640080"/>
          </a:xfrm>
          <a:prstGeom prst="rect">
            <a:avLst/>
          </a:prstGeom>
          <a:noFill/>
          <a:ln/>
        </p:spPr>
        <p:txBody>
          <a:bodyPr wrap="square" lIns="0" tIns="0" rIns="0" bIns="0" rtlCol="0" anchor="ctr"/>
          <a:lstStyle/>
          <a:p>
            <a:pPr marL="0" indent="0">
              <a:buNone/>
            </a:pPr>
            <a:r>
              <a:rPr lang="en-US" sz="1350" b="1" dirty="0">
                <a:solidFill>
                  <a:srgbClr val="2B2321"/>
                </a:solidFill>
                <a:latin typeface="Calibri" pitchFamily="34" charset="0"/>
                <a:ea typeface="Calibri" pitchFamily="34" charset="-122"/>
                <a:cs typeface="Calibri" pitchFamily="34" charset="-120"/>
              </a:rPr>
              <a:t>The gym’s rules, as members read them.</a:t>
            </a:r>
            <a:endParaRPr lang="en-US" sz="1350" dirty="0"/>
          </a:p>
        </p:txBody>
      </p:sp>
      <p:sp>
        <p:nvSpPr>
          <p:cNvPr id="135" name="Text 135"/>
          <p:cNvSpPr/>
          <p:nvPr/>
        </p:nvSpPr>
        <p:spPr>
          <a:xfrm>
            <a:off x="4617720" y="3108960"/>
            <a:ext cx="2926080" cy="731520"/>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A rich-text editor. Required — Save will not click while it is empty.</a:t>
            </a:r>
            <a:endParaRPr lang="en-US" sz="1250" dirty="0"/>
          </a:p>
        </p:txBody>
      </p:sp>
      <p:sp>
        <p:nvSpPr>
          <p:cNvPr id="136" name="Shape 136"/>
          <p:cNvSpPr/>
          <p:nvPr/>
        </p:nvSpPr>
        <p:spPr>
          <a:xfrm>
            <a:off x="8046720" y="1691640"/>
            <a:ext cx="3474720" cy="256032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137" name="Text 137"/>
          <p:cNvSpPr/>
          <p:nvPr/>
        </p:nvSpPr>
        <p:spPr>
          <a:xfrm>
            <a:off x="8321040" y="1874520"/>
            <a:ext cx="2926080" cy="457200"/>
          </a:xfrm>
          <a:prstGeom prst="rect">
            <a:avLst/>
          </a:prstGeom>
          <a:noFill/>
          <a:ln/>
        </p:spPr>
        <p:txBody>
          <a:bodyPr wrap="square" lIns="0" tIns="0" rIns="0" bIns="0" rtlCol="0" anchor="ctr"/>
          <a:lstStyle/>
          <a:p>
            <a:pPr marL="0" indent="0">
              <a:buNone/>
            </a:pPr>
            <a:r>
              <a:rPr lang="en-US" sz="2000" b="1" dirty="0">
                <a:solidFill>
                  <a:srgbClr val="B85042"/>
                </a:solidFill>
                <a:latin typeface="Cambria" pitchFamily="34" charset="0"/>
                <a:ea typeface="Cambria" pitchFamily="34" charset="-122"/>
                <a:cs typeface="Cambria" pitchFamily="34" charset="-120"/>
              </a:rPr>
              <a:t>Cancellation Policy</a:t>
            </a:r>
            <a:endParaRPr lang="en-US" sz="2000" dirty="0"/>
          </a:p>
        </p:txBody>
      </p:sp>
      <p:sp>
        <p:nvSpPr>
          <p:cNvPr id="138" name="Text 138"/>
          <p:cNvSpPr/>
          <p:nvPr/>
        </p:nvSpPr>
        <p:spPr>
          <a:xfrm>
            <a:off x="8321040" y="2377440"/>
            <a:ext cx="2926080" cy="640080"/>
          </a:xfrm>
          <a:prstGeom prst="rect">
            <a:avLst/>
          </a:prstGeom>
          <a:noFill/>
          <a:ln/>
        </p:spPr>
        <p:txBody>
          <a:bodyPr wrap="square" lIns="0" tIns="0" rIns="0" bIns="0" rtlCol="0" anchor="ctr"/>
          <a:lstStyle/>
          <a:p>
            <a:pPr marL="0" indent="0">
              <a:buNone/>
            </a:pPr>
            <a:r>
              <a:rPr lang="en-US" sz="1350" b="1" dirty="0">
                <a:solidFill>
                  <a:srgbClr val="2B2321"/>
                </a:solidFill>
                <a:latin typeface="Calibri" pitchFamily="34" charset="0"/>
                <a:ea typeface="Calibri" pitchFamily="34" charset="-122"/>
                <a:cs typeface="Calibri" pitchFamily="34" charset="-120"/>
              </a:rPr>
              <a:t>What members read before cancelling.</a:t>
            </a:r>
            <a:endParaRPr lang="en-US" sz="1350" dirty="0"/>
          </a:p>
        </p:txBody>
      </p:sp>
      <p:sp>
        <p:nvSpPr>
          <p:cNvPr id="139" name="Text 139"/>
          <p:cNvSpPr/>
          <p:nvPr/>
        </p:nvSpPr>
        <p:spPr>
          <a:xfrm>
            <a:off x="8321040" y="3108960"/>
            <a:ext cx="2926080" cy="731520"/>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Also required. Text only: writing "50% after 30 days" here refunds nobody 50%.</a:t>
            </a:r>
            <a:endParaRPr lang="en-US" sz="1250" dirty="0"/>
          </a:p>
        </p:txBody>
      </p:sp>
      <p:sp>
        <p:nvSpPr>
          <p:cNvPr id="140" name="Shape 140"/>
          <p:cNvSpPr/>
          <p:nvPr/>
        </p:nvSpPr>
        <p:spPr>
          <a:xfrm>
            <a:off x="640080" y="4480560"/>
            <a:ext cx="10881360" cy="914400"/>
          </a:xfrm>
          <a:prstGeom prst="roundRect">
            <a:avLst>
              <a:gd name="adj" fmla="val 2222"/>
            </a:avLst>
          </a:prstGeom>
          <a:solidFill>
            <a:srgbClr val="F0F4F0"/>
          </a:solidFill>
          <a:ln w="12700">
            <a:solidFill>
              <a:srgbClr val="A7BEAE"/>
            </a:solidFill>
            <a:prstDash val="solid"/>
          </a:ln>
        </p:spPr>
      </p:sp>
      <p:sp>
        <p:nvSpPr>
          <p:cNvPr id="141" name="Text 141"/>
          <p:cNvSpPr/>
          <p:nvPr/>
        </p:nvSpPr>
        <p:spPr>
          <a:xfrm>
            <a:off x="960120" y="459028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Keep the policy text and your actual practice in step.</a:t>
            </a:r>
            <a:endParaRPr lang="en-US" sz="1450" dirty="0"/>
          </a:p>
        </p:txBody>
      </p:sp>
      <p:sp>
        <p:nvSpPr>
          <p:cNvPr id="142" name="Text 142"/>
          <p:cNvSpPr/>
          <p:nvPr/>
        </p:nvSpPr>
        <p:spPr>
          <a:xfrm>
            <a:off x="960120" y="490118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The policy is what the member will quote back at you. Since you type every refund by hand, it is entirely possible to contradict your own published text without noticing.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3" name="Text 143"/>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Saving, and Arabic</a:t>
            </a:r>
            <a:endParaRPr lang="en-US" sz="3400" dirty="0"/>
          </a:p>
        </p:txBody>
      </p:sp>
      <p:sp>
        <p:nvSpPr>
          <p:cNvPr id="144" name="Text 144"/>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Nothing on Main Info saves as you type.</a:t>
            </a:r>
            <a:endParaRPr lang="en-US" sz="1400" dirty="0"/>
          </a:p>
        </p:txBody>
      </p:sp>
      <p:sp>
        <p:nvSpPr>
          <p:cNvPr id="145" name="Shape 145"/>
          <p:cNvSpPr/>
          <p:nvPr/>
        </p:nvSpPr>
        <p:spPr>
          <a:xfrm>
            <a:off x="640080" y="1691640"/>
            <a:ext cx="5212080" cy="256032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146" name="Text 146"/>
          <p:cNvSpPr/>
          <p:nvPr/>
        </p:nvSpPr>
        <p:spPr>
          <a:xfrm>
            <a:off x="960120" y="1874520"/>
            <a:ext cx="4572000" cy="457200"/>
          </a:xfrm>
          <a:prstGeom prst="rect">
            <a:avLst/>
          </a:prstGeom>
          <a:noFill/>
          <a:ln/>
        </p:spPr>
        <p:txBody>
          <a:bodyPr wrap="square" lIns="0" tIns="0" rIns="0" bIns="0" rtlCol="0" anchor="ctr"/>
          <a:lstStyle/>
          <a:p>
            <a:pPr marL="0" indent="0">
              <a:buNone/>
            </a:pPr>
            <a:r>
              <a:rPr lang="en-US" sz="2600" b="1" dirty="0">
                <a:solidFill>
                  <a:srgbClr val="A7BEAE"/>
                </a:solidFill>
                <a:latin typeface="Cambria" pitchFamily="34" charset="0"/>
                <a:ea typeface="Cambria" pitchFamily="34" charset="-122"/>
                <a:cs typeface="Cambria" pitchFamily="34" charset="-120"/>
              </a:rPr>
              <a:t>The Save bar</a:t>
            </a:r>
            <a:endParaRPr lang="en-US" sz="2600" dirty="0"/>
          </a:p>
        </p:txBody>
      </p:sp>
      <p:sp>
        <p:nvSpPr>
          <p:cNvPr id="147" name="Text 147"/>
          <p:cNvSpPr/>
          <p:nvPr/>
        </p:nvSpPr>
        <p:spPr>
          <a:xfrm>
            <a:off x="960120" y="2395728"/>
            <a:ext cx="4572000"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Change any field and a bar appears at the bottom reading "N field affected".</a:t>
            </a:r>
            <a:endParaRPr lang="en-US" sz="1450" dirty="0"/>
          </a:p>
        </p:txBody>
      </p:sp>
      <p:sp>
        <p:nvSpPr>
          <p:cNvPr id="148" name="Text 148"/>
          <p:cNvSpPr/>
          <p:nvPr/>
        </p:nvSpPr>
        <p:spPr>
          <a:xfrm>
            <a:off x="960120" y="3017520"/>
            <a:ext cx="4572000" cy="548640"/>
          </a:xfrm>
          <a:prstGeom prst="rect">
            <a:avLst/>
          </a:prstGeom>
          <a:noFill/>
          <a:ln/>
        </p:spPr>
        <p:txBody>
          <a:bodyPr wrap="square" lIns="0" tIns="0" rIns="0" bIns="0" rtlCol="0" anchor="ctr"/>
          <a:lstStyle/>
          <a:p>
            <a:pPr marL="0" indent="0">
              <a:buNone/>
            </a:pPr>
            <a:r>
              <a:rPr lang="en-US" sz="1300" dirty="0">
                <a:solidFill>
                  <a:srgbClr val="E7E8D1"/>
                </a:solidFill>
                <a:latin typeface="Calibri" pitchFamily="34" charset="0"/>
                <a:ea typeface="Calibri" pitchFamily="34" charset="-122"/>
                <a:cs typeface="Calibri" pitchFamily="34" charset="-120"/>
              </a:rPr>
              <a:t>Save writes the details, the gallery and both text editors at once. Cancel throws away everything since your last save.</a:t>
            </a:r>
            <a:endParaRPr lang="en-US" sz="1300" dirty="0"/>
          </a:p>
        </p:txBody>
      </p:sp>
      <p:sp>
        <p:nvSpPr>
          <p:cNvPr id="149" name="Text 149"/>
          <p:cNvSpPr/>
          <p:nvPr/>
        </p:nvSpPr>
        <p:spPr>
          <a:xfrm>
            <a:off x="960120" y="3657600"/>
            <a:ext cx="4572000" cy="365760"/>
          </a:xfrm>
          <a:prstGeom prst="rect">
            <a:avLst/>
          </a:prstGeom>
          <a:noFill/>
          <a:ln/>
        </p:spPr>
        <p:txBody>
          <a:bodyPr wrap="square" lIns="0" tIns="0" rIns="0" bIns="0" rtlCol="0" anchor="ctr"/>
          <a:lstStyle/>
          <a:p>
            <a:pPr marL="0" indent="0">
              <a:buNone/>
            </a:pPr>
            <a:r>
              <a:rPr lang="en-US" sz="1300" i="1" dirty="0">
                <a:solidFill>
                  <a:srgbClr val="A7BEAE"/>
                </a:solidFill>
                <a:latin typeface="Calibri" pitchFamily="34" charset="0"/>
                <a:ea typeface="Calibri" pitchFamily="34" charset="-122"/>
                <a:cs typeface="Calibri" pitchFamily="34" charset="-120"/>
              </a:rPr>
              <a:t>One button, all three panels</a:t>
            </a:r>
            <a:endParaRPr lang="en-US" sz="1300" dirty="0"/>
          </a:p>
        </p:txBody>
      </p:sp>
      <p:sp>
        <p:nvSpPr>
          <p:cNvPr id="150" name="Shape 150"/>
          <p:cNvSpPr/>
          <p:nvPr/>
        </p:nvSpPr>
        <p:spPr>
          <a:xfrm>
            <a:off x="6309360" y="1691640"/>
            <a:ext cx="5212080" cy="256032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151" name="Text 151"/>
          <p:cNvSpPr/>
          <p:nvPr/>
        </p:nvSpPr>
        <p:spPr>
          <a:xfrm>
            <a:off x="6629400" y="1874520"/>
            <a:ext cx="4572000" cy="457200"/>
          </a:xfrm>
          <a:prstGeom prst="rect">
            <a:avLst/>
          </a:prstGeom>
          <a:noFill/>
          <a:ln/>
        </p:spPr>
        <p:txBody>
          <a:bodyPr wrap="square" lIns="0" tIns="0" rIns="0" bIns="0"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Translation</a:t>
            </a:r>
            <a:endParaRPr lang="en-US" sz="2600" dirty="0"/>
          </a:p>
        </p:txBody>
      </p:sp>
      <p:sp>
        <p:nvSpPr>
          <p:cNvPr id="152" name="Text 152"/>
          <p:cNvSpPr/>
          <p:nvPr/>
        </p:nvSpPr>
        <p:spPr>
          <a:xfrm>
            <a:off x="6629400" y="2395728"/>
            <a:ext cx="4572000" cy="548640"/>
          </a:xfrm>
          <a:prstGeom prst="rect">
            <a:avLst/>
          </a:prstGeom>
          <a:noFill/>
          <a:ln/>
        </p:spPr>
        <p:txBody>
          <a:bodyPr wrap="square" lIns="0" tIns="0" rIns="0" bIns="0" rtlCol="0" anchor="ctr"/>
          <a:lstStyle/>
          <a:p>
            <a:pPr marL="0" indent="0">
              <a:buNone/>
            </a:pPr>
            <a:r>
              <a:rPr lang="en-US" sz="1450" b="1" dirty="0">
                <a:solidFill>
                  <a:srgbClr val="2B2321"/>
                </a:solidFill>
                <a:latin typeface="Calibri" pitchFamily="34" charset="0"/>
                <a:ea typeface="Calibri" pitchFamily="34" charset="-122"/>
                <a:cs typeface="Calibri" pitchFamily="34" charset="-120"/>
              </a:rPr>
              <a:t>The More menu, top right, holds one action.</a:t>
            </a:r>
            <a:endParaRPr lang="en-US" sz="1450" dirty="0"/>
          </a:p>
        </p:txBody>
      </p:sp>
      <p:sp>
        <p:nvSpPr>
          <p:cNvPr id="153" name="Text 153"/>
          <p:cNvSpPr/>
          <p:nvPr/>
        </p:nvSpPr>
        <p:spPr>
          <a:xfrm>
            <a:off x="6629400" y="3017520"/>
            <a:ext cx="4572000" cy="548640"/>
          </a:xfrm>
          <a:prstGeom prst="rect">
            <a:avLst/>
          </a:prstGeom>
          <a:noFill/>
          <a:ln/>
        </p:spPr>
        <p:txBody>
          <a:bodyPr wrap="square" lIns="0" tIns="0" rIns="0" bIns="0" rtlCol="0" anchor="ctr"/>
          <a:lstStyle/>
          <a:p>
            <a:pPr marL="0" indent="0">
              <a:buNone/>
            </a:pPr>
            <a:r>
              <a:rPr lang="en-US" sz="1300" dirty="0">
                <a:solidFill>
                  <a:srgbClr val="7A6A64"/>
                </a:solidFill>
                <a:latin typeface="Calibri" pitchFamily="34" charset="0"/>
                <a:ea typeface="Calibri" pitchFamily="34" charset="-122"/>
                <a:cs typeface="Calibri" pitchFamily="34" charset="-120"/>
              </a:rPr>
              <a:t>Arabic for About Gym (required), Rules And Regulations and Cancellation Policy (both optional). Anything left blank falls back to English.</a:t>
            </a:r>
            <a:endParaRPr lang="en-US" sz="1300" dirty="0"/>
          </a:p>
        </p:txBody>
      </p:sp>
      <p:sp>
        <p:nvSpPr>
          <p:cNvPr id="154" name="Text 154"/>
          <p:cNvSpPr/>
          <p:nvPr/>
        </p:nvSpPr>
        <p:spPr>
          <a:xfrm>
            <a:off x="6629400" y="3657600"/>
            <a:ext cx="4572000" cy="36576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Saved from its own window</a:t>
            </a:r>
            <a:endParaRPr lang="en-US" sz="1300" dirty="0"/>
          </a:p>
        </p:txBody>
      </p:sp>
      <p:sp>
        <p:nvSpPr>
          <p:cNvPr id="155" name="Shape 155"/>
          <p:cNvSpPr/>
          <p:nvPr/>
        </p:nvSpPr>
        <p:spPr>
          <a:xfrm>
            <a:off x="640080" y="4480560"/>
            <a:ext cx="10881360" cy="914400"/>
          </a:xfrm>
          <a:prstGeom prst="roundRect">
            <a:avLst>
              <a:gd name="adj" fmla="val 2222"/>
            </a:avLst>
          </a:prstGeom>
          <a:solidFill>
            <a:srgbClr val="F0F4F0"/>
          </a:solidFill>
          <a:ln w="12700">
            <a:solidFill>
              <a:srgbClr val="A7BEAE"/>
            </a:solidFill>
            <a:prstDash val="solid"/>
          </a:ln>
        </p:spPr>
      </p:sp>
      <p:sp>
        <p:nvSpPr>
          <p:cNvPr id="156" name="Text 156"/>
          <p:cNvSpPr/>
          <p:nvPr/>
        </p:nvSpPr>
        <p:spPr>
          <a:xfrm>
            <a:off x="960120" y="459028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If Save will not click, a required field is empty.</a:t>
            </a:r>
            <a:endParaRPr lang="en-US" sz="1450" dirty="0"/>
          </a:p>
        </p:txBody>
      </p:sp>
      <p:sp>
        <p:nvSpPr>
          <p:cNvPr id="157" name="Text 157"/>
          <p:cNvSpPr/>
          <p:nvPr/>
        </p:nvSpPr>
        <p:spPr>
          <a:xfrm>
            <a:off x="960120" y="490118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Every field on this screen is required, so one blank box blocks the whole save — including your gallery changes. Work down the fields looking for the error message.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85042"/>
        </a:solidFill>
        <a:effectLst/>
      </p:bgPr>
    </p:bg>
    <p:spTree>
      <p:nvGrpSpPr>
        <p:cNvPr id="1" name=""/>
        <p:cNvGrpSpPr/>
        <p:nvPr/>
      </p:nvGrpSpPr>
      <p:grpSpPr>
        <a:xfrm>
          <a:off x="0" y="0"/>
          <a:ext cx="0" cy="0"/>
          <a:chOff x="0" y="0"/>
          <a:chExt cx="0" cy="0"/>
        </a:xfrm>
      </p:grpSpPr>
      <p:sp>
        <p:nvSpPr>
          <p:cNvPr id="158" name="Shape 158"/>
          <p:cNvSpPr/>
          <p:nvPr/>
        </p:nvSpPr>
        <p:spPr>
          <a:xfrm>
            <a:off x="9326880" y="1005840"/>
            <a:ext cx="4206240" cy="4206240"/>
          </a:xfrm>
          <a:prstGeom prst="ellipse">
            <a:avLst/>
          </a:prstGeom>
          <a:solidFill>
            <a:srgbClr val="FFFFFF">
              <a:alpha val="12000"/>
            </a:srgbClr>
          </a:solidFill>
          <a:ln/>
        </p:spPr>
      </p:sp>
      <p:sp>
        <p:nvSpPr>
          <p:cNvPr id="159" name="Text 159"/>
          <p:cNvSpPr/>
          <p:nvPr/>
        </p:nvSpPr>
        <p:spPr>
          <a:xfrm>
            <a:off x="640080" y="2286000"/>
            <a:ext cx="7315200" cy="384048"/>
          </a:xfrm>
          <a:prstGeom prst="rect">
            <a:avLst/>
          </a:prstGeom>
          <a:noFill/>
          <a:ln/>
        </p:spPr>
        <p:txBody>
          <a:bodyPr wrap="square" lIns="0" tIns="0" rIns="0" bIns="0" rtlCol="0" anchor="ctr"/>
          <a:lstStyle/>
          <a:p>
            <a:pPr marL="0" indent="0">
              <a:buNone/>
            </a:pPr>
            <a:r>
              <a:rPr lang="en-US" sz="1400" b="1" kern="0" spc="300" dirty="0">
                <a:solidFill>
                  <a:srgbClr val="E7E8D1"/>
                </a:solidFill>
                <a:latin typeface="Calibri" pitchFamily="34" charset="0"/>
                <a:ea typeface="Calibri" pitchFamily="34" charset="-122"/>
                <a:cs typeface="Calibri" pitchFamily="34" charset="-120"/>
              </a:rPr>
              <a:t>Part 2</a:t>
            </a:r>
            <a:endParaRPr lang="en-US" sz="1400" dirty="0"/>
          </a:p>
        </p:txBody>
      </p:sp>
      <p:sp>
        <p:nvSpPr>
          <p:cNvPr id="160" name="Text 160"/>
          <p:cNvSpPr/>
          <p:nvPr/>
        </p:nvSpPr>
        <p:spPr>
          <a:xfrm>
            <a:off x="640080" y="2697480"/>
            <a:ext cx="8229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Subscription Plans</a:t>
            </a:r>
            <a:endParaRPr lang="en-US" sz="4800" dirty="0"/>
          </a:p>
        </p:txBody>
      </p:sp>
      <p:sp>
        <p:nvSpPr>
          <p:cNvPr id="161" name="Text 161"/>
          <p:cNvSpPr/>
          <p:nvPr/>
        </p:nvSpPr>
        <p:spPr>
          <a:xfrm>
            <a:off x="640080" y="3657600"/>
            <a:ext cx="7863840" cy="640080"/>
          </a:xfrm>
          <a:prstGeom prst="rect">
            <a:avLst/>
          </a:prstGeom>
          <a:noFill/>
          <a:ln/>
        </p:spPr>
        <p:txBody>
          <a:bodyPr wrap="square" lIns="0" tIns="0" rIns="0" bIns="0" rtlCol="0" anchor="ctr"/>
          <a:lstStyle/>
          <a:p>
            <a:pPr marL="0" indent="0">
              <a:buNone/>
            </a:pPr>
            <a:r>
              <a:rPr lang="en-US" sz="1700" dirty="0">
                <a:solidFill>
                  <a:srgbClr val="E7E8D1"/>
                </a:solidFill>
                <a:latin typeface="Calibri" pitchFamily="34" charset="0"/>
                <a:ea typeface="Calibri" pitchFamily="34" charset="-122"/>
                <a:cs typeface="Calibri" pitchFamily="34" charset="-120"/>
              </a:rPr>
              <a:t>The plans members buy — and the four fields you cannot take back.</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2" name="Text 162"/>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plans list</a:t>
            </a:r>
            <a:endParaRPr lang="en-US" sz="3400" dirty="0"/>
          </a:p>
        </p:txBody>
      </p:sp>
      <p:sp>
        <p:nvSpPr>
          <p:cNvPr id="163" name="Text 163"/>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One row per plan, and everything you can do without opening one.</a:t>
            </a:r>
            <a:endParaRPr lang="en-US" sz="1400" dirty="0"/>
          </a:p>
        </p:txBody>
      </p:sp>
      <p:sp>
        <p:nvSpPr>
          <p:cNvPr id="164" name="Shape 164"/>
          <p:cNvSpPr/>
          <p:nvPr/>
        </p:nvSpPr>
        <p:spPr>
          <a:xfrm>
            <a:off x="640080" y="1645920"/>
            <a:ext cx="10881360" cy="841248"/>
          </a:xfrm>
          <a:prstGeom prst="roundRect">
            <a:avLst>
              <a:gd name="adj" fmla="val 2222"/>
            </a:avLst>
          </a:prstGeom>
          <a:solidFill>
            <a:srgbClr val="FBF6F2"/>
          </a:solidFill>
          <a:ln w="12700">
            <a:solidFill>
              <a:srgbClr val="E8DFD6"/>
            </a:solidFill>
            <a:prstDash val="solid"/>
          </a:ln>
        </p:spPr>
      </p:sp>
      <p:sp>
        <p:nvSpPr>
          <p:cNvPr id="165" name="Shape 165"/>
          <p:cNvSpPr/>
          <p:nvPr/>
        </p:nvSpPr>
        <p:spPr>
          <a:xfrm>
            <a:off x="896112" y="1856232"/>
            <a:ext cx="420624" cy="420624"/>
          </a:xfrm>
          <a:prstGeom prst="ellipse">
            <a:avLst/>
          </a:prstGeom>
          <a:solidFill>
            <a:srgbClr val="B85042"/>
          </a:solidFill>
          <a:ln/>
        </p:spPr>
      </p:sp>
      <p:sp>
        <p:nvSpPr>
          <p:cNvPr id="166" name="Text 166"/>
          <p:cNvSpPr/>
          <p:nvPr/>
        </p:nvSpPr>
        <p:spPr>
          <a:xfrm>
            <a:off x="896112" y="18562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7" name="Text 167"/>
          <p:cNvSpPr/>
          <p:nvPr/>
        </p:nvSpPr>
        <p:spPr>
          <a:xfrm>
            <a:off x="1508760" y="175564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Reorder by dragging</a:t>
            </a:r>
            <a:endParaRPr lang="en-US" sz="1500" dirty="0"/>
          </a:p>
        </p:txBody>
      </p:sp>
      <p:sp>
        <p:nvSpPr>
          <p:cNvPr id="168" name="Text 168"/>
          <p:cNvSpPr/>
          <p:nvPr/>
        </p:nvSpPr>
        <p:spPr>
          <a:xfrm>
            <a:off x="1508760" y="206654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Grab the handle on the left of a row. Members see plans in this order.</a:t>
            </a:r>
            <a:endParaRPr lang="en-US" sz="1250" dirty="0"/>
          </a:p>
        </p:txBody>
      </p:sp>
      <p:sp>
        <p:nvSpPr>
          <p:cNvPr id="169" name="Shape 169"/>
          <p:cNvSpPr/>
          <p:nvPr/>
        </p:nvSpPr>
        <p:spPr>
          <a:xfrm>
            <a:off x="640080" y="2577984"/>
            <a:ext cx="10881360" cy="841248"/>
          </a:xfrm>
          <a:prstGeom prst="roundRect">
            <a:avLst>
              <a:gd name="adj" fmla="val 2222"/>
            </a:avLst>
          </a:prstGeom>
          <a:solidFill>
            <a:srgbClr val="FBF6F2"/>
          </a:solidFill>
          <a:ln w="12700">
            <a:solidFill>
              <a:srgbClr val="E8DFD6"/>
            </a:solidFill>
            <a:prstDash val="solid"/>
          </a:ln>
        </p:spPr>
      </p:sp>
      <p:sp>
        <p:nvSpPr>
          <p:cNvPr id="170" name="Shape 170"/>
          <p:cNvSpPr/>
          <p:nvPr/>
        </p:nvSpPr>
        <p:spPr>
          <a:xfrm>
            <a:off x="896112" y="2788296"/>
            <a:ext cx="420624" cy="420624"/>
          </a:xfrm>
          <a:prstGeom prst="ellipse">
            <a:avLst/>
          </a:prstGeom>
          <a:solidFill>
            <a:srgbClr val="B85042"/>
          </a:solidFill>
          <a:ln/>
        </p:spPr>
      </p:sp>
      <p:sp>
        <p:nvSpPr>
          <p:cNvPr id="171" name="Text 171"/>
          <p:cNvSpPr/>
          <p:nvPr/>
        </p:nvSpPr>
        <p:spPr>
          <a:xfrm>
            <a:off x="896112" y="27882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2" name="Text 172"/>
          <p:cNvSpPr/>
          <p:nvPr/>
        </p:nvSpPr>
        <p:spPr>
          <a:xfrm>
            <a:off x="1508760" y="2687712"/>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Search and filter</a:t>
            </a:r>
            <a:endParaRPr lang="en-US" sz="1500" dirty="0"/>
          </a:p>
        </p:txBody>
      </p:sp>
      <p:sp>
        <p:nvSpPr>
          <p:cNvPr id="173" name="Text 173"/>
          <p:cNvSpPr/>
          <p:nvPr/>
        </p:nvSpPr>
        <p:spPr>
          <a:xfrm>
            <a:off x="1508760" y="2998608"/>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Search by name or description. Filter by status, and by the date a plan was created.</a:t>
            </a:r>
            <a:endParaRPr lang="en-US" sz="1250" dirty="0"/>
          </a:p>
        </p:txBody>
      </p:sp>
      <p:sp>
        <p:nvSpPr>
          <p:cNvPr id="174" name="Shape 174"/>
          <p:cNvSpPr/>
          <p:nvPr/>
        </p:nvSpPr>
        <p:spPr>
          <a:xfrm>
            <a:off x="640080" y="3510048"/>
            <a:ext cx="10881360" cy="841248"/>
          </a:xfrm>
          <a:prstGeom prst="roundRect">
            <a:avLst>
              <a:gd name="adj" fmla="val 2222"/>
            </a:avLst>
          </a:prstGeom>
          <a:solidFill>
            <a:srgbClr val="FBF6F2"/>
          </a:solidFill>
          <a:ln w="12700">
            <a:solidFill>
              <a:srgbClr val="E8DFD6"/>
            </a:solidFill>
            <a:prstDash val="solid"/>
          </a:ln>
        </p:spPr>
      </p:sp>
      <p:sp>
        <p:nvSpPr>
          <p:cNvPr id="175" name="Shape 175"/>
          <p:cNvSpPr/>
          <p:nvPr/>
        </p:nvSpPr>
        <p:spPr>
          <a:xfrm>
            <a:off x="896112" y="3720360"/>
            <a:ext cx="420624" cy="420624"/>
          </a:xfrm>
          <a:prstGeom prst="ellipse">
            <a:avLst/>
          </a:prstGeom>
          <a:solidFill>
            <a:srgbClr val="B85042"/>
          </a:solidFill>
          <a:ln/>
        </p:spPr>
      </p:sp>
      <p:sp>
        <p:nvSpPr>
          <p:cNvPr id="176" name="Text 176"/>
          <p:cNvSpPr/>
          <p:nvPr/>
        </p:nvSpPr>
        <p:spPr>
          <a:xfrm>
            <a:off x="896112" y="3720360"/>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7" name="Text 177"/>
          <p:cNvSpPr/>
          <p:nvPr/>
        </p:nvSpPr>
        <p:spPr>
          <a:xfrm>
            <a:off x="1508760" y="3619776"/>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Export</a:t>
            </a:r>
            <a:endParaRPr lang="en-US" sz="1500" dirty="0"/>
          </a:p>
        </p:txBody>
      </p:sp>
      <p:sp>
        <p:nvSpPr>
          <p:cNvPr id="178" name="Text 178"/>
          <p:cNvSpPr/>
          <p:nvPr/>
        </p:nvSpPr>
        <p:spPr>
          <a:xfrm>
            <a:off x="1508760" y="3930672"/>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Download the table as a spreadsheet.</a:t>
            </a:r>
            <a:endParaRPr lang="en-US" sz="1250" dirty="0"/>
          </a:p>
        </p:txBody>
      </p:sp>
      <p:sp>
        <p:nvSpPr>
          <p:cNvPr id="179" name="Shape 179"/>
          <p:cNvSpPr/>
          <p:nvPr/>
        </p:nvSpPr>
        <p:spPr>
          <a:xfrm>
            <a:off x="640080" y="4442112"/>
            <a:ext cx="10881360" cy="841248"/>
          </a:xfrm>
          <a:prstGeom prst="roundRect">
            <a:avLst>
              <a:gd name="adj" fmla="val 2222"/>
            </a:avLst>
          </a:prstGeom>
          <a:solidFill>
            <a:srgbClr val="FBF6F2"/>
          </a:solidFill>
          <a:ln w="12700">
            <a:solidFill>
              <a:srgbClr val="E8DFD6"/>
            </a:solidFill>
            <a:prstDash val="solid"/>
          </a:ln>
        </p:spPr>
      </p:sp>
      <p:sp>
        <p:nvSpPr>
          <p:cNvPr id="180" name="Shape 180"/>
          <p:cNvSpPr/>
          <p:nvPr/>
        </p:nvSpPr>
        <p:spPr>
          <a:xfrm>
            <a:off x="896112" y="4652424"/>
            <a:ext cx="420624" cy="420624"/>
          </a:xfrm>
          <a:prstGeom prst="ellipse">
            <a:avLst/>
          </a:prstGeom>
          <a:solidFill>
            <a:srgbClr val="B85042"/>
          </a:solidFill>
          <a:ln/>
        </p:spPr>
      </p:sp>
      <p:sp>
        <p:nvSpPr>
          <p:cNvPr id="181" name="Text 181"/>
          <p:cNvSpPr/>
          <p:nvPr/>
        </p:nvSpPr>
        <p:spPr>
          <a:xfrm>
            <a:off x="896112" y="46524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2" name="Text 182"/>
          <p:cNvSpPr/>
          <p:nvPr/>
        </p:nvSpPr>
        <p:spPr>
          <a:xfrm>
            <a:off x="1508760" y="4551840"/>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Three row actions</a:t>
            </a:r>
            <a:endParaRPr lang="en-US" sz="1500" dirty="0"/>
          </a:p>
        </p:txBody>
      </p:sp>
      <p:sp>
        <p:nvSpPr>
          <p:cNvPr id="183" name="Text 183"/>
          <p:cNvSpPr/>
          <p:nvPr/>
        </p:nvSpPr>
        <p:spPr>
          <a:xfrm>
            <a:off x="1508760" y="4862736"/>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Edit, Translate and Delete sit at the end of every row.</a:t>
            </a:r>
            <a:endParaRPr lang="en-US" sz="1250" dirty="0"/>
          </a:p>
        </p:txBody>
      </p:sp>
      <p:sp>
        <p:nvSpPr>
          <p:cNvPr id="184" name="Shape 184"/>
          <p:cNvSpPr/>
          <p:nvPr/>
        </p:nvSpPr>
        <p:spPr>
          <a:xfrm>
            <a:off x="640080" y="5486400"/>
            <a:ext cx="10881360" cy="987552"/>
          </a:xfrm>
          <a:prstGeom prst="roundRect">
            <a:avLst>
              <a:gd name="adj" fmla="val 2222"/>
            </a:avLst>
          </a:prstGeom>
          <a:solidFill>
            <a:srgbClr val="F0F4F0"/>
          </a:solidFill>
          <a:ln w="12700">
            <a:solidFill>
              <a:srgbClr val="A7BEAE"/>
            </a:solidFill>
            <a:prstDash val="solid"/>
          </a:ln>
        </p:spPr>
      </p:sp>
      <p:sp>
        <p:nvSpPr>
          <p:cNvPr id="185" name="Text 185"/>
          <p:cNvSpPr/>
          <p:nvPr/>
        </p:nvSpPr>
        <p:spPr>
          <a:xfrm>
            <a:off x="960120" y="559612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If this screen says "not authorised", you are not a superadmin.</a:t>
            </a:r>
            <a:endParaRPr lang="en-US" sz="1450" dirty="0"/>
          </a:p>
        </p:txBody>
      </p:sp>
      <p:sp>
        <p:nvSpPr>
          <p:cNvPr id="186" name="Text 186"/>
          <p:cNvSpPr/>
          <p:nvPr/>
        </p:nvSpPr>
        <p:spPr>
          <a:xfrm>
            <a:off x="960120" y="590702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Gym has no permission settings of its own, so there is nothing anyone can tick to give you access. Raise it with the technical team rather than with whoever manages roles.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7" name="Text 187"/>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Creating a plan</a:t>
            </a:r>
            <a:endParaRPr lang="en-US" sz="3400" dirty="0"/>
          </a:p>
        </p:txBody>
      </p:sp>
      <p:sp>
        <p:nvSpPr>
          <p:cNvPr id="188" name="Text 188"/>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One window, thirteen fields, no steps.</a:t>
            </a:r>
            <a:endParaRPr lang="en-US" sz="1400" dirty="0"/>
          </a:p>
        </p:txBody>
      </p:sp>
      <p:graphicFrame>
        <p:nvGraphicFramePr>
          <p:cNvPr id="189" name="Table 189"/>
          <p:cNvGraphicFramePr>
            <a:graphicFrameLocks noGrp="1"/>
          </p:cNvGraphicFramePr>
          <p:nvPr/>
        </p:nvGraphicFramePr>
        <p:xfrm>
          <a:off x="640080" y="1554480"/>
          <a:ext cx="10881360" cy="4096512"/>
        </p:xfrm>
        <a:graphic>
          <a:graphicData uri="http://schemas.openxmlformats.org/drawingml/2006/table">
            <a:tbl>
              <a:tblPr/>
              <a:tblGrid>
                <a:gridCol w="2971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520440">
                  <a:extLst>
                    <a:ext uri="{9D8B030D-6E8A-4147-A177-3AD203B41FA5}">
                      <a16:colId xmlns:a16="http://schemas.microsoft.com/office/drawing/2014/main" val="20003"/>
                    </a:ext>
                  </a:extLst>
                </a:gridCol>
              </a:tblGrid>
              <a:tr h="29260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Required</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What to enter</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Notes</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extLst>
                  <a:ext uri="{0D108BD9-81ED-4DB2-BD59-A6C34878D82A}">
                    <a16:rowId xmlns:a16="http://schemas.microsoft.com/office/drawing/2014/main" val="10000"/>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Name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The plan name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The title on the plan card</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1"/>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Description</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What the plan includes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The text under the title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2"/>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Price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 number, 0 or more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What members pay</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3"/>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Odoo Product Id</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The finance reference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Ask finance, do not guess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4"/>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Duration</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 number of days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LOCKS ON SAVE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5"/>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Discounted Price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No</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Not above Price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Shown with Price crossed out</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6"/>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Save Percentage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No</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0 to 100</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 label you type — nothing checks it</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7"/>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Total Freeze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 number of days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LOCKS ON SAVE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8"/>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Min Freeze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Not above Total Freeze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LOCKS ON SAVE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9"/>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Guest Invitations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 number</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LOCKS ON SAVE</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0"/>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Renew Before Expiry</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Yes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Not above Duration</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How early they can renew</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1"/>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Status</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On or off</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Off hides the plan completely</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2"/>
                  </a:ext>
                </a:extLst>
              </a:tr>
              <a:tr h="292608">
                <a:tc>
                  <a:txBody>
                    <a:bodyPr/>
                    <a:lstStyle/>
                    <a:p>
                      <a:pPr marL="0" indent="0">
                        <a:buNone/>
                      </a:pPr>
                      <a:r>
                        <a:rPr lang="en-US" sz="1050" b="1" dirty="0">
                          <a:solidFill>
                            <a:srgbClr val="2B2321"/>
                          </a:solidFill>
                          <a:latin typeface="Calibri" pitchFamily="34" charset="0"/>
                          <a:ea typeface="Calibri" pitchFamily="34" charset="-122"/>
                          <a:cs typeface="Calibri" pitchFamily="34" charset="-120"/>
                        </a:rPr>
                        <a:t>Testing</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On or off</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050" dirty="0">
                          <a:solidFill>
                            <a:srgbClr val="2B2321"/>
                          </a:solidFill>
                          <a:latin typeface="Calibri" pitchFamily="34" charset="0"/>
                          <a:ea typeface="Calibri" pitchFamily="34" charset="-122"/>
                          <a:cs typeface="Calibri" pitchFamily="34" charset="-120"/>
                        </a:rPr>
                        <a:t>Marks it as a test record</a:t>
                      </a:r>
                      <a:endParaRPr lang="en-US" sz="10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3"/>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0" name="Text 190"/>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four fields that lock forever</a:t>
            </a:r>
            <a:endParaRPr lang="en-US" sz="3400" dirty="0"/>
          </a:p>
        </p:txBody>
      </p:sp>
      <p:sp>
        <p:nvSpPr>
          <p:cNvPr id="191" name="Text 191"/>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Reopen a saved plan and these are greyed out. No message, no explanation.</a:t>
            </a:r>
            <a:endParaRPr lang="en-US" sz="1400" dirty="0"/>
          </a:p>
        </p:txBody>
      </p:sp>
      <p:sp>
        <p:nvSpPr>
          <p:cNvPr id="192" name="Shape 192"/>
          <p:cNvSpPr/>
          <p:nvPr/>
        </p:nvSpPr>
        <p:spPr>
          <a:xfrm>
            <a:off x="640080" y="1691640"/>
            <a:ext cx="5212080" cy="246888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193" name="Text 193"/>
          <p:cNvSpPr/>
          <p:nvPr/>
        </p:nvSpPr>
        <p:spPr>
          <a:xfrm>
            <a:off x="960120" y="1874520"/>
            <a:ext cx="4572000" cy="457200"/>
          </a:xfrm>
          <a:prstGeom prst="rect">
            <a:avLst/>
          </a:prstGeom>
          <a:noFill/>
          <a:ln/>
        </p:spPr>
        <p:txBody>
          <a:bodyPr wrap="square" lIns="0" tIns="0" rIns="0" bIns="0" rtlCol="0" anchor="ctr"/>
          <a:lstStyle/>
          <a:p>
            <a:pPr marL="0" indent="0">
              <a:buNone/>
            </a:pPr>
            <a:r>
              <a:rPr lang="en-US" sz="2600" b="1" dirty="0">
                <a:solidFill>
                  <a:srgbClr val="A7BEAE"/>
                </a:solidFill>
                <a:latin typeface="Cambria" pitchFamily="34" charset="0"/>
                <a:ea typeface="Cambria" pitchFamily="34" charset="-122"/>
                <a:cs typeface="Cambria" pitchFamily="34" charset="-120"/>
              </a:rPr>
              <a:t>Locked on save</a:t>
            </a:r>
            <a:endParaRPr lang="en-US" sz="2600" dirty="0"/>
          </a:p>
        </p:txBody>
      </p:sp>
      <p:sp>
        <p:nvSpPr>
          <p:cNvPr id="194" name="Text 194"/>
          <p:cNvSpPr/>
          <p:nvPr/>
        </p:nvSpPr>
        <p:spPr>
          <a:xfrm>
            <a:off x="960120" y="2395728"/>
            <a:ext cx="4572000"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Duration · Total Freeze · Min Freeze · Guest Invitations</a:t>
            </a:r>
            <a:endParaRPr lang="en-US" sz="1450" dirty="0"/>
          </a:p>
        </p:txBody>
      </p:sp>
      <p:sp>
        <p:nvSpPr>
          <p:cNvPr id="195" name="Text 195"/>
          <p:cNvSpPr/>
          <p:nvPr/>
        </p:nvSpPr>
        <p:spPr>
          <a:xfrm>
            <a:off x="960120" y="3017520"/>
            <a:ext cx="4572000" cy="548640"/>
          </a:xfrm>
          <a:prstGeom prst="rect">
            <a:avLst/>
          </a:prstGeom>
          <a:noFill/>
          <a:ln/>
        </p:spPr>
        <p:txBody>
          <a:bodyPr wrap="square" lIns="0" tIns="0" rIns="0" bIns="0" rtlCol="0" anchor="ctr"/>
          <a:lstStyle/>
          <a:p>
            <a:pPr marL="0" indent="0">
              <a:buNone/>
            </a:pPr>
            <a:r>
              <a:rPr lang="en-US" sz="1300" dirty="0">
                <a:solidFill>
                  <a:srgbClr val="E7E8D1"/>
                </a:solidFill>
                <a:latin typeface="Calibri" pitchFamily="34" charset="0"/>
                <a:ea typeface="Calibri" pitchFamily="34" charset="-122"/>
                <a:cs typeface="Calibri" pitchFamily="34" charset="-120"/>
              </a:rPr>
              <a:t>Members have already bought these plans. Changing a duration would move the end date of every live subscription, so the panel refuses.</a:t>
            </a:r>
            <a:endParaRPr lang="en-US" sz="1300" dirty="0"/>
          </a:p>
        </p:txBody>
      </p:sp>
      <p:sp>
        <p:nvSpPr>
          <p:cNvPr id="196" name="Text 196"/>
          <p:cNvSpPr/>
          <p:nvPr/>
        </p:nvSpPr>
        <p:spPr>
          <a:xfrm>
            <a:off x="960120" y="3657600"/>
            <a:ext cx="4572000" cy="365760"/>
          </a:xfrm>
          <a:prstGeom prst="rect">
            <a:avLst/>
          </a:prstGeom>
          <a:noFill/>
          <a:ln/>
        </p:spPr>
        <p:txBody>
          <a:bodyPr wrap="square" lIns="0" tIns="0" rIns="0" bIns="0" rtlCol="0" anchor="ctr"/>
          <a:lstStyle/>
          <a:p>
            <a:pPr marL="0" indent="0">
              <a:buNone/>
            </a:pPr>
            <a:r>
              <a:rPr lang="en-US" sz="1300" i="1" dirty="0">
                <a:solidFill>
                  <a:srgbClr val="A7BEAE"/>
                </a:solidFill>
                <a:latin typeface="Calibri" pitchFamily="34" charset="0"/>
                <a:ea typeface="Calibri" pitchFamily="34" charset="-122"/>
                <a:cs typeface="Calibri" pitchFamily="34" charset="-120"/>
              </a:rPr>
              <a:t>Get them right first time</a:t>
            </a:r>
            <a:endParaRPr lang="en-US" sz="1300" dirty="0"/>
          </a:p>
        </p:txBody>
      </p:sp>
      <p:sp>
        <p:nvSpPr>
          <p:cNvPr id="197" name="Shape 197"/>
          <p:cNvSpPr/>
          <p:nvPr/>
        </p:nvSpPr>
        <p:spPr>
          <a:xfrm>
            <a:off x="6309360" y="1691640"/>
            <a:ext cx="5212080" cy="246888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198" name="Text 198"/>
          <p:cNvSpPr/>
          <p:nvPr/>
        </p:nvSpPr>
        <p:spPr>
          <a:xfrm>
            <a:off x="6629400" y="1874520"/>
            <a:ext cx="4572000" cy="457200"/>
          </a:xfrm>
          <a:prstGeom prst="rect">
            <a:avLst/>
          </a:prstGeom>
          <a:noFill/>
          <a:ln/>
        </p:spPr>
        <p:txBody>
          <a:bodyPr wrap="square" lIns="0" tIns="0" rIns="0" bIns="0"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Changeable any time</a:t>
            </a:r>
            <a:endParaRPr lang="en-US" sz="2600" dirty="0"/>
          </a:p>
        </p:txBody>
      </p:sp>
      <p:sp>
        <p:nvSpPr>
          <p:cNvPr id="199" name="Text 199"/>
          <p:cNvSpPr/>
          <p:nvPr/>
        </p:nvSpPr>
        <p:spPr>
          <a:xfrm>
            <a:off x="6629400" y="2395728"/>
            <a:ext cx="4572000" cy="548640"/>
          </a:xfrm>
          <a:prstGeom prst="rect">
            <a:avLst/>
          </a:prstGeom>
          <a:noFill/>
          <a:ln/>
        </p:spPr>
        <p:txBody>
          <a:bodyPr wrap="square" lIns="0" tIns="0" rIns="0" bIns="0" rtlCol="0" anchor="ctr"/>
          <a:lstStyle/>
          <a:p>
            <a:pPr marL="0" indent="0">
              <a:buNone/>
            </a:pPr>
            <a:r>
              <a:rPr lang="en-US" sz="1450" b="1" dirty="0">
                <a:solidFill>
                  <a:srgbClr val="2B2321"/>
                </a:solidFill>
                <a:latin typeface="Calibri" pitchFamily="34" charset="0"/>
                <a:ea typeface="Calibri" pitchFamily="34" charset="-122"/>
                <a:cs typeface="Calibri" pitchFamily="34" charset="-120"/>
              </a:rPr>
              <a:t>Name · Description · Price · Discounted Price · Save Percentage · Odoo Product Id · Renew Before Expiry · Status · Testing</a:t>
            </a:r>
            <a:endParaRPr lang="en-US" sz="1450" dirty="0"/>
          </a:p>
        </p:txBody>
      </p:sp>
      <p:sp>
        <p:nvSpPr>
          <p:cNvPr id="200" name="Text 200"/>
          <p:cNvSpPr/>
          <p:nvPr/>
        </p:nvSpPr>
        <p:spPr>
          <a:xfrm>
            <a:off x="6629400" y="3017520"/>
            <a:ext cx="4572000" cy="548640"/>
          </a:xfrm>
          <a:prstGeom prst="rect">
            <a:avLst/>
          </a:prstGeom>
          <a:noFill/>
          <a:ln/>
        </p:spPr>
        <p:txBody>
          <a:bodyPr wrap="square" lIns="0" tIns="0" rIns="0" bIns="0" rtlCol="0" anchor="ctr"/>
          <a:lstStyle/>
          <a:p>
            <a:pPr marL="0" indent="0">
              <a:buNone/>
            </a:pPr>
            <a:r>
              <a:rPr lang="en-US" sz="1300" dirty="0">
                <a:solidFill>
                  <a:srgbClr val="7A6A64"/>
                </a:solidFill>
                <a:latin typeface="Calibri" pitchFamily="34" charset="0"/>
                <a:ea typeface="Calibri" pitchFamily="34" charset="-122"/>
                <a:cs typeface="Calibri" pitchFamily="34" charset="-120"/>
              </a:rPr>
              <a:t>Prices and wording can be corrected whenever you like.</a:t>
            </a:r>
            <a:endParaRPr lang="en-US" sz="1300" dirty="0"/>
          </a:p>
        </p:txBody>
      </p:sp>
      <p:sp>
        <p:nvSpPr>
          <p:cNvPr id="201" name="Text 201"/>
          <p:cNvSpPr/>
          <p:nvPr/>
        </p:nvSpPr>
        <p:spPr>
          <a:xfrm>
            <a:off x="6629400" y="3657600"/>
            <a:ext cx="4572000" cy="36576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Safe to revisit</a:t>
            </a:r>
            <a:endParaRPr lang="en-US" sz="1300" dirty="0"/>
          </a:p>
        </p:txBody>
      </p:sp>
      <p:sp>
        <p:nvSpPr>
          <p:cNvPr id="202" name="Shape 202"/>
          <p:cNvSpPr/>
          <p:nvPr/>
        </p:nvSpPr>
        <p:spPr>
          <a:xfrm>
            <a:off x="640080" y="4389120"/>
            <a:ext cx="10881360" cy="1005840"/>
          </a:xfrm>
          <a:prstGeom prst="roundRect">
            <a:avLst>
              <a:gd name="adj" fmla="val 2222"/>
            </a:avLst>
          </a:prstGeom>
          <a:solidFill>
            <a:srgbClr val="F0F4F0"/>
          </a:solidFill>
          <a:ln w="12700">
            <a:solidFill>
              <a:srgbClr val="A7BEAE"/>
            </a:solidFill>
            <a:prstDash val="solid"/>
          </a:ln>
        </p:spPr>
      </p:sp>
      <p:sp>
        <p:nvSpPr>
          <p:cNvPr id="203" name="Text 203"/>
          <p:cNvSpPr/>
          <p:nvPr/>
        </p:nvSpPr>
        <p:spPr>
          <a:xfrm>
            <a:off x="960120" y="449884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The workaround when you get one wrong.</a:t>
            </a:r>
            <a:endParaRPr lang="en-US" sz="1450" dirty="0"/>
          </a:p>
        </p:txBody>
      </p:sp>
      <p:sp>
        <p:nvSpPr>
          <p:cNvPr id="204" name="Text 204"/>
          <p:cNvSpPr/>
          <p:nvPr/>
        </p:nvSpPr>
        <p:spPr>
          <a:xfrm>
            <a:off x="960120" y="480974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Create the replacement plan with the right numbers, check it, switch it on, then switch the old one off. Existing members keep what they bought; new members get the corrected plan.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 name="Text 205"/>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three price fields</a:t>
            </a:r>
            <a:endParaRPr lang="en-US" sz="3400" dirty="0"/>
          </a:p>
        </p:txBody>
      </p:sp>
      <p:sp>
        <p:nvSpPr>
          <p:cNvPr id="206" name="Text 206"/>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Only the first is required. The other two are how you show a deal.</a:t>
            </a:r>
            <a:endParaRPr lang="en-US" sz="1400" dirty="0"/>
          </a:p>
        </p:txBody>
      </p:sp>
      <p:sp>
        <p:nvSpPr>
          <p:cNvPr id="207" name="Shape 207"/>
          <p:cNvSpPr/>
          <p:nvPr/>
        </p:nvSpPr>
        <p:spPr>
          <a:xfrm>
            <a:off x="640080" y="1737360"/>
            <a:ext cx="10881360" cy="548640"/>
          </a:xfrm>
          <a:prstGeom prst="roundRect">
            <a:avLst>
              <a:gd name="adj" fmla="val 2222"/>
            </a:avLst>
          </a:prstGeom>
          <a:solidFill>
            <a:srgbClr val="FBF6F2"/>
          </a:solidFill>
          <a:ln w="12700">
            <a:solidFill>
              <a:srgbClr val="E8DFD6"/>
            </a:solidFill>
            <a:prstDash val="solid"/>
          </a:ln>
        </p:spPr>
      </p:sp>
      <p:sp>
        <p:nvSpPr>
          <p:cNvPr id="208" name="Shape 208"/>
          <p:cNvSpPr/>
          <p:nvPr/>
        </p:nvSpPr>
        <p:spPr>
          <a:xfrm>
            <a:off x="822960" y="1847088"/>
            <a:ext cx="2194560" cy="329184"/>
          </a:xfrm>
          <a:prstGeom prst="roundRect">
            <a:avLst>
              <a:gd name="adj" fmla="val 12000"/>
            </a:avLst>
          </a:prstGeom>
          <a:solidFill>
            <a:srgbClr val="3D2320"/>
          </a:solidFill>
          <a:ln/>
        </p:spPr>
      </p:sp>
      <p:sp>
        <p:nvSpPr>
          <p:cNvPr id="209" name="Text 209"/>
          <p:cNvSpPr/>
          <p:nvPr/>
        </p:nvSpPr>
        <p:spPr>
          <a:xfrm>
            <a:off x="822960" y="184708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Price</a:t>
            </a:r>
            <a:endParaRPr lang="en-US" sz="1200" dirty="0"/>
          </a:p>
        </p:txBody>
      </p:sp>
      <p:sp>
        <p:nvSpPr>
          <p:cNvPr id="210" name="Text 210"/>
          <p:cNvSpPr/>
          <p:nvPr/>
        </p:nvSpPr>
        <p:spPr>
          <a:xfrm>
            <a:off x="3200400" y="178308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Required</a:t>
            </a:r>
            <a:endParaRPr lang="en-US" sz="1200" dirty="0"/>
          </a:p>
        </p:txBody>
      </p:sp>
      <p:sp>
        <p:nvSpPr>
          <p:cNvPr id="211" name="Text 211"/>
          <p:cNvSpPr/>
          <p:nvPr/>
        </p:nvSpPr>
        <p:spPr>
          <a:xfrm>
            <a:off x="4389120" y="178308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0 or more. The price members pay if there is no offer</a:t>
            </a:r>
            <a:endParaRPr lang="en-US" sz="1300" dirty="0"/>
          </a:p>
        </p:txBody>
      </p:sp>
      <p:sp>
        <p:nvSpPr>
          <p:cNvPr id="212" name="Shape 212"/>
          <p:cNvSpPr/>
          <p:nvPr/>
        </p:nvSpPr>
        <p:spPr>
          <a:xfrm>
            <a:off x="640080" y="2423160"/>
            <a:ext cx="10881360" cy="548640"/>
          </a:xfrm>
          <a:prstGeom prst="roundRect">
            <a:avLst>
              <a:gd name="adj" fmla="val 2222"/>
            </a:avLst>
          </a:prstGeom>
          <a:solidFill>
            <a:srgbClr val="FBF6F2"/>
          </a:solidFill>
          <a:ln w="12700">
            <a:solidFill>
              <a:srgbClr val="E8DFD6"/>
            </a:solidFill>
            <a:prstDash val="solid"/>
          </a:ln>
        </p:spPr>
      </p:sp>
      <p:sp>
        <p:nvSpPr>
          <p:cNvPr id="213" name="Shape 213"/>
          <p:cNvSpPr/>
          <p:nvPr/>
        </p:nvSpPr>
        <p:spPr>
          <a:xfrm>
            <a:off x="822960" y="2532888"/>
            <a:ext cx="2194560" cy="329184"/>
          </a:xfrm>
          <a:prstGeom prst="roundRect">
            <a:avLst>
              <a:gd name="adj" fmla="val 12000"/>
            </a:avLst>
          </a:prstGeom>
          <a:solidFill>
            <a:srgbClr val="B85042"/>
          </a:solidFill>
          <a:ln/>
        </p:spPr>
      </p:sp>
      <p:sp>
        <p:nvSpPr>
          <p:cNvPr id="214" name="Text 214"/>
          <p:cNvSpPr/>
          <p:nvPr/>
        </p:nvSpPr>
        <p:spPr>
          <a:xfrm>
            <a:off x="822960" y="253288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Discounted Price</a:t>
            </a:r>
            <a:endParaRPr lang="en-US" sz="1200" dirty="0"/>
          </a:p>
        </p:txBody>
      </p:sp>
      <p:sp>
        <p:nvSpPr>
          <p:cNvPr id="215" name="Text 215"/>
          <p:cNvSpPr/>
          <p:nvPr/>
        </p:nvSpPr>
        <p:spPr>
          <a:xfrm>
            <a:off x="3200400" y="246888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Optional</a:t>
            </a:r>
            <a:endParaRPr lang="en-US" sz="1200" dirty="0"/>
          </a:p>
        </p:txBody>
      </p:sp>
      <p:sp>
        <p:nvSpPr>
          <p:cNvPr id="216" name="Text 216"/>
          <p:cNvSpPr/>
          <p:nvPr/>
        </p:nvSpPr>
        <p:spPr>
          <a:xfrm>
            <a:off x="4389120" y="246888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Cannot be higher than Price. Members see it with Price crossed out</a:t>
            </a:r>
            <a:endParaRPr lang="en-US" sz="1300" dirty="0"/>
          </a:p>
        </p:txBody>
      </p:sp>
      <p:sp>
        <p:nvSpPr>
          <p:cNvPr id="217" name="Shape 217"/>
          <p:cNvSpPr/>
          <p:nvPr/>
        </p:nvSpPr>
        <p:spPr>
          <a:xfrm>
            <a:off x="640080" y="3108960"/>
            <a:ext cx="10881360" cy="548640"/>
          </a:xfrm>
          <a:prstGeom prst="roundRect">
            <a:avLst>
              <a:gd name="adj" fmla="val 2222"/>
            </a:avLst>
          </a:prstGeom>
          <a:solidFill>
            <a:srgbClr val="FBF6F2"/>
          </a:solidFill>
          <a:ln w="12700">
            <a:solidFill>
              <a:srgbClr val="E8DFD6"/>
            </a:solidFill>
            <a:prstDash val="solid"/>
          </a:ln>
        </p:spPr>
      </p:sp>
      <p:sp>
        <p:nvSpPr>
          <p:cNvPr id="218" name="Shape 218"/>
          <p:cNvSpPr/>
          <p:nvPr/>
        </p:nvSpPr>
        <p:spPr>
          <a:xfrm>
            <a:off x="822960" y="3218688"/>
            <a:ext cx="2194560" cy="329184"/>
          </a:xfrm>
          <a:prstGeom prst="roundRect">
            <a:avLst>
              <a:gd name="adj" fmla="val 12000"/>
            </a:avLst>
          </a:prstGeom>
          <a:solidFill>
            <a:srgbClr val="C9A227"/>
          </a:solidFill>
          <a:ln/>
        </p:spPr>
      </p:sp>
      <p:sp>
        <p:nvSpPr>
          <p:cNvPr id="219" name="Text 219"/>
          <p:cNvSpPr/>
          <p:nvPr/>
        </p:nvSpPr>
        <p:spPr>
          <a:xfrm>
            <a:off x="822960" y="321868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Save Percentage</a:t>
            </a:r>
            <a:endParaRPr lang="en-US" sz="1200" dirty="0"/>
          </a:p>
        </p:txBody>
      </p:sp>
      <p:sp>
        <p:nvSpPr>
          <p:cNvPr id="220" name="Text 220"/>
          <p:cNvSpPr/>
          <p:nvPr/>
        </p:nvSpPr>
        <p:spPr>
          <a:xfrm>
            <a:off x="3200400" y="315468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Optional</a:t>
            </a:r>
            <a:endParaRPr lang="en-US" sz="1200" dirty="0"/>
          </a:p>
        </p:txBody>
      </p:sp>
      <p:sp>
        <p:nvSpPr>
          <p:cNvPr id="221" name="Text 221"/>
          <p:cNvSpPr/>
          <p:nvPr/>
        </p:nvSpPr>
        <p:spPr>
          <a:xfrm>
            <a:off x="4389120" y="315468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0 to 100. Shown as a "save X%" badge on the card</a:t>
            </a:r>
            <a:endParaRPr lang="en-US" sz="1300" dirty="0"/>
          </a:p>
        </p:txBody>
      </p:sp>
      <p:sp>
        <p:nvSpPr>
          <p:cNvPr id="222" name="Shape 222"/>
          <p:cNvSpPr/>
          <p:nvPr/>
        </p:nvSpPr>
        <p:spPr>
          <a:xfrm>
            <a:off x="640080" y="4114800"/>
            <a:ext cx="10881360" cy="914400"/>
          </a:xfrm>
          <a:prstGeom prst="roundRect">
            <a:avLst>
              <a:gd name="adj" fmla="val 2222"/>
            </a:avLst>
          </a:prstGeom>
          <a:solidFill>
            <a:srgbClr val="F0F4F0"/>
          </a:solidFill>
          <a:ln w="12700">
            <a:solidFill>
              <a:srgbClr val="A7BEAE"/>
            </a:solidFill>
            <a:prstDash val="solid"/>
          </a:ln>
        </p:spPr>
      </p:sp>
      <p:sp>
        <p:nvSpPr>
          <p:cNvPr id="223" name="Text 223"/>
          <p:cNvSpPr/>
          <p:nvPr/>
        </p:nvSpPr>
        <p:spPr>
          <a:xfrm>
            <a:off x="960120" y="422452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Save Percentage is a label, not a sum.</a:t>
            </a:r>
            <a:endParaRPr lang="en-US" sz="1450" dirty="0"/>
          </a:p>
        </p:txBody>
      </p:sp>
      <p:sp>
        <p:nvSpPr>
          <p:cNvPr id="224" name="Text 224"/>
          <p:cNvSpPr/>
          <p:nvPr/>
        </p:nvSpPr>
        <p:spPr>
          <a:xfrm>
            <a:off x="960120" y="453542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Nothing checks it against the other two. Drop 1,000 EGP to 900 and type 50, and the app advertises 50% off a 10% discount. Work the percentage out yourself.</a:t>
            </a:r>
            <a:endParaRPr lang="en-US" sz="1300" dirty="0"/>
          </a:p>
        </p:txBody>
      </p:sp>
      <p:sp>
        <p:nvSpPr>
          <p:cNvPr id="225" name="Shape 225"/>
          <p:cNvSpPr/>
          <p:nvPr/>
        </p:nvSpPr>
        <p:spPr>
          <a:xfrm>
            <a:off x="640080" y="5257800"/>
            <a:ext cx="10881360" cy="822960"/>
          </a:xfrm>
          <a:prstGeom prst="roundRect">
            <a:avLst>
              <a:gd name="adj" fmla="val 2222"/>
            </a:avLst>
          </a:prstGeom>
          <a:solidFill>
            <a:srgbClr val="F0F4F0"/>
          </a:solidFill>
          <a:ln w="12700">
            <a:solidFill>
              <a:srgbClr val="A7BEAE"/>
            </a:solidFill>
            <a:prstDash val="solid"/>
          </a:ln>
        </p:spPr>
      </p:sp>
      <p:sp>
        <p:nvSpPr>
          <p:cNvPr id="226" name="Text 226"/>
          <p:cNvSpPr/>
          <p:nvPr/>
        </p:nvSpPr>
        <p:spPr>
          <a:xfrm>
            <a:off x="960120" y="536752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Leave Discounted Price empty when there is no offer.</a:t>
            </a:r>
            <a:endParaRPr lang="en-US" sz="1450" dirty="0"/>
          </a:p>
        </p:txBody>
      </p:sp>
      <p:sp>
        <p:nvSpPr>
          <p:cNvPr id="227" name="Text 227"/>
          <p:cNvSpPr/>
          <p:nvPr/>
        </p:nvSpPr>
        <p:spPr>
          <a:xfrm>
            <a:off x="960120" y="567842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The list shows a dash rather than a zero, and members see the plain price.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8" name="Text 228"/>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Freeze, renewal and the two switches</a:t>
            </a:r>
            <a:endParaRPr lang="en-US" sz="3400" dirty="0"/>
          </a:p>
        </p:txBody>
      </p:sp>
      <p:sp>
        <p:nvSpPr>
          <p:cNvPr id="229" name="Text 229"/>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The fields that decide what a plan includes and whether anyone can see it.</a:t>
            </a:r>
            <a:endParaRPr lang="en-US" sz="1400" dirty="0"/>
          </a:p>
        </p:txBody>
      </p:sp>
      <p:sp>
        <p:nvSpPr>
          <p:cNvPr id="230" name="Shape 230"/>
          <p:cNvSpPr/>
          <p:nvPr/>
        </p:nvSpPr>
        <p:spPr>
          <a:xfrm>
            <a:off x="640080" y="1691640"/>
            <a:ext cx="3474720" cy="237744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231" name="Text 231"/>
          <p:cNvSpPr/>
          <p:nvPr/>
        </p:nvSpPr>
        <p:spPr>
          <a:xfrm>
            <a:off x="914400" y="1874520"/>
            <a:ext cx="2926080" cy="457200"/>
          </a:xfrm>
          <a:prstGeom prst="rect">
            <a:avLst/>
          </a:prstGeom>
          <a:noFill/>
          <a:ln/>
        </p:spPr>
        <p:txBody>
          <a:bodyPr wrap="square" lIns="0" tIns="0" rIns="0" bIns="0" rtlCol="0" anchor="ctr"/>
          <a:lstStyle/>
          <a:p>
            <a:pPr marL="0" indent="0">
              <a:buNone/>
            </a:pPr>
            <a:r>
              <a:rPr lang="en-US" sz="2000" b="1" dirty="0">
                <a:solidFill>
                  <a:srgbClr val="A7BEAE"/>
                </a:solidFill>
                <a:latin typeface="Cambria" pitchFamily="34" charset="0"/>
                <a:ea typeface="Cambria" pitchFamily="34" charset="-122"/>
                <a:cs typeface="Cambria" pitchFamily="34" charset="-120"/>
              </a:rPr>
              <a:t>Freeze</a:t>
            </a:r>
            <a:endParaRPr lang="en-US" sz="2000" dirty="0"/>
          </a:p>
        </p:txBody>
      </p:sp>
      <p:sp>
        <p:nvSpPr>
          <p:cNvPr id="232" name="Text 232"/>
          <p:cNvSpPr/>
          <p:nvPr/>
        </p:nvSpPr>
        <p:spPr>
          <a:xfrm>
            <a:off x="914400" y="2377440"/>
            <a:ext cx="2926080" cy="64008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Total Freeze is the whole allowance; Min Freeze is the shortest single pause.</a:t>
            </a:r>
            <a:endParaRPr lang="en-US" sz="1350" dirty="0"/>
          </a:p>
        </p:txBody>
      </p:sp>
      <p:sp>
        <p:nvSpPr>
          <p:cNvPr id="233" name="Text 233"/>
          <p:cNvSpPr/>
          <p:nvPr/>
        </p:nvSpPr>
        <p:spPr>
          <a:xfrm>
            <a:off x="914400" y="3108960"/>
            <a:ext cx="2926080" cy="73152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Min cannot exceed Total. Both lock on save.</a:t>
            </a:r>
            <a:endParaRPr lang="en-US" sz="1250" dirty="0"/>
          </a:p>
        </p:txBody>
      </p:sp>
      <p:sp>
        <p:nvSpPr>
          <p:cNvPr id="234" name="Shape 234"/>
          <p:cNvSpPr/>
          <p:nvPr/>
        </p:nvSpPr>
        <p:spPr>
          <a:xfrm>
            <a:off x="4343400" y="1691640"/>
            <a:ext cx="3474720" cy="237744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235" name="Text 235"/>
          <p:cNvSpPr/>
          <p:nvPr/>
        </p:nvSpPr>
        <p:spPr>
          <a:xfrm>
            <a:off x="4617720" y="1874520"/>
            <a:ext cx="2926080" cy="457200"/>
          </a:xfrm>
          <a:prstGeom prst="rect">
            <a:avLst/>
          </a:prstGeom>
          <a:noFill/>
          <a:ln/>
        </p:spPr>
        <p:txBody>
          <a:bodyPr wrap="square" lIns="0" tIns="0" rIns="0" bIns="0" rtlCol="0" anchor="ctr"/>
          <a:lstStyle/>
          <a:p>
            <a:pPr marL="0" indent="0">
              <a:buNone/>
            </a:pPr>
            <a:r>
              <a:rPr lang="en-US" sz="2000" b="1" dirty="0">
                <a:solidFill>
                  <a:srgbClr val="B85042"/>
                </a:solidFill>
                <a:latin typeface="Cambria" pitchFamily="34" charset="0"/>
                <a:ea typeface="Cambria" pitchFamily="34" charset="-122"/>
                <a:cs typeface="Cambria" pitchFamily="34" charset="-120"/>
              </a:rPr>
              <a:t>Renew Before Expiry</a:t>
            </a:r>
            <a:endParaRPr lang="en-US" sz="2000" dirty="0"/>
          </a:p>
        </p:txBody>
      </p:sp>
      <p:sp>
        <p:nvSpPr>
          <p:cNvPr id="236" name="Text 236"/>
          <p:cNvSpPr/>
          <p:nvPr/>
        </p:nvSpPr>
        <p:spPr>
          <a:xfrm>
            <a:off x="4617720" y="2377440"/>
            <a:ext cx="2926080" cy="640080"/>
          </a:xfrm>
          <a:prstGeom prst="rect">
            <a:avLst/>
          </a:prstGeom>
          <a:noFill/>
          <a:ln/>
        </p:spPr>
        <p:txBody>
          <a:bodyPr wrap="square" lIns="0" tIns="0" rIns="0" bIns="0" rtlCol="0" anchor="ctr"/>
          <a:lstStyle/>
          <a:p>
            <a:pPr marL="0" indent="0">
              <a:buNone/>
            </a:pPr>
            <a:r>
              <a:rPr lang="en-US" sz="1350" b="1" dirty="0">
                <a:solidFill>
                  <a:srgbClr val="2B2321"/>
                </a:solidFill>
                <a:latin typeface="Calibri" pitchFamily="34" charset="0"/>
                <a:ea typeface="Calibri" pitchFamily="34" charset="-122"/>
                <a:cs typeface="Calibri" pitchFamily="34" charset="-120"/>
              </a:rPr>
              <a:t>How many days early a member can buy their next block.</a:t>
            </a:r>
            <a:endParaRPr lang="en-US" sz="1350" dirty="0"/>
          </a:p>
        </p:txBody>
      </p:sp>
      <p:sp>
        <p:nvSpPr>
          <p:cNvPr id="237" name="Text 237"/>
          <p:cNvSpPr/>
          <p:nvPr/>
        </p:nvSpPr>
        <p:spPr>
          <a:xfrm>
            <a:off x="4617720" y="3108960"/>
            <a:ext cx="2926080" cy="731520"/>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Cannot exceed the plan’s Duration — nobody renews before their membership begins.</a:t>
            </a:r>
            <a:endParaRPr lang="en-US" sz="1250" dirty="0"/>
          </a:p>
        </p:txBody>
      </p:sp>
      <p:sp>
        <p:nvSpPr>
          <p:cNvPr id="238" name="Shape 238"/>
          <p:cNvSpPr/>
          <p:nvPr/>
        </p:nvSpPr>
        <p:spPr>
          <a:xfrm>
            <a:off x="8046720" y="1691640"/>
            <a:ext cx="3474720" cy="237744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239" name="Text 239"/>
          <p:cNvSpPr/>
          <p:nvPr/>
        </p:nvSpPr>
        <p:spPr>
          <a:xfrm>
            <a:off x="8321040" y="1874520"/>
            <a:ext cx="2926080" cy="457200"/>
          </a:xfrm>
          <a:prstGeom prst="rect">
            <a:avLst/>
          </a:prstGeom>
          <a:noFill/>
          <a:ln/>
        </p:spPr>
        <p:txBody>
          <a:bodyPr wrap="square" lIns="0" tIns="0" rIns="0" bIns="0" rtlCol="0" anchor="ctr"/>
          <a:lstStyle/>
          <a:p>
            <a:pPr marL="0" indent="0">
              <a:buNone/>
            </a:pPr>
            <a:r>
              <a:rPr lang="en-US" sz="2000" b="1" dirty="0">
                <a:solidFill>
                  <a:srgbClr val="B85042"/>
                </a:solidFill>
                <a:latin typeface="Cambria" pitchFamily="34" charset="0"/>
                <a:ea typeface="Cambria" pitchFamily="34" charset="-122"/>
                <a:cs typeface="Cambria" pitchFamily="34" charset="-120"/>
              </a:rPr>
              <a:t>Status and Testing</a:t>
            </a:r>
            <a:endParaRPr lang="en-US" sz="2000" dirty="0"/>
          </a:p>
        </p:txBody>
      </p:sp>
      <p:sp>
        <p:nvSpPr>
          <p:cNvPr id="240" name="Text 240"/>
          <p:cNvSpPr/>
          <p:nvPr/>
        </p:nvSpPr>
        <p:spPr>
          <a:xfrm>
            <a:off x="8321040" y="2377440"/>
            <a:ext cx="2926080" cy="640080"/>
          </a:xfrm>
          <a:prstGeom prst="rect">
            <a:avLst/>
          </a:prstGeom>
          <a:noFill/>
          <a:ln/>
        </p:spPr>
        <p:txBody>
          <a:bodyPr wrap="square" lIns="0" tIns="0" rIns="0" bIns="0" rtlCol="0" anchor="ctr"/>
          <a:lstStyle/>
          <a:p>
            <a:pPr marL="0" indent="0">
              <a:buNone/>
            </a:pPr>
            <a:r>
              <a:rPr lang="en-US" sz="1350" b="1" dirty="0">
                <a:solidFill>
                  <a:srgbClr val="2B2321"/>
                </a:solidFill>
                <a:latin typeface="Calibri" pitchFamily="34" charset="0"/>
                <a:ea typeface="Calibri" pitchFamily="34" charset="-122"/>
                <a:cs typeface="Calibri" pitchFamily="34" charset="-120"/>
              </a:rPr>
              <a:t>Status off hides the plan from members completely.</a:t>
            </a:r>
            <a:endParaRPr lang="en-US" sz="1350" dirty="0"/>
          </a:p>
        </p:txBody>
      </p:sp>
      <p:sp>
        <p:nvSpPr>
          <p:cNvPr id="241" name="Text 241"/>
          <p:cNvSpPr/>
          <p:nvPr/>
        </p:nvSpPr>
        <p:spPr>
          <a:xfrm>
            <a:off x="8321040" y="3108960"/>
            <a:ext cx="2926080" cy="731520"/>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Not greyed out — gone. Testing marks a plan as a test record rather than a real product.</a:t>
            </a:r>
            <a:endParaRPr lang="en-US" sz="1250" dirty="0"/>
          </a:p>
        </p:txBody>
      </p:sp>
      <p:sp>
        <p:nvSpPr>
          <p:cNvPr id="242" name="Shape 242"/>
          <p:cNvSpPr/>
          <p:nvPr/>
        </p:nvSpPr>
        <p:spPr>
          <a:xfrm>
            <a:off x="640080" y="4297680"/>
            <a:ext cx="10881360" cy="1005840"/>
          </a:xfrm>
          <a:prstGeom prst="roundRect">
            <a:avLst>
              <a:gd name="adj" fmla="val 2222"/>
            </a:avLst>
          </a:prstGeom>
          <a:solidFill>
            <a:srgbClr val="F0F4F0"/>
          </a:solidFill>
          <a:ln w="12700">
            <a:solidFill>
              <a:srgbClr val="A7BEAE"/>
            </a:solidFill>
            <a:prstDash val="solid"/>
          </a:ln>
        </p:spPr>
      </p:sp>
      <p:sp>
        <p:nvSpPr>
          <p:cNvPr id="243" name="Text 243"/>
          <p:cNvSpPr/>
          <p:nvPr/>
        </p:nvSpPr>
        <p:spPr>
          <a:xfrm>
            <a:off x="960120" y="440740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 Members cannot currently see freeze days or guest invitations.</a:t>
            </a:r>
            <a:endParaRPr lang="en-US" sz="1450" dirty="0"/>
          </a:p>
        </p:txBody>
      </p:sp>
      <p:sp>
        <p:nvSpPr>
          <p:cNvPr id="244" name="Text 244"/>
          <p:cNvSpPr/>
          <p:nvPr/>
        </p:nvSpPr>
        <p:spPr>
          <a:xfrm>
            <a:off x="960120" y="471830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All three fields are required of you and all three show in the admin panel, but the parts of the app that would display them are switched off. Do not promise them in the Description. Confirm with the technical team before relying on this.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5" name="Text 245"/>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A worked example</a:t>
            </a:r>
            <a:endParaRPr lang="en-US" sz="3400" dirty="0"/>
          </a:p>
        </p:txBody>
      </p:sp>
      <p:sp>
        <p:nvSpPr>
          <p:cNvPr id="246" name="Text 246"/>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A three-month plan at 2,400 EGP, on offer at 1,800.</a:t>
            </a:r>
            <a:endParaRPr lang="en-US" sz="1400" dirty="0"/>
          </a:p>
        </p:txBody>
      </p:sp>
      <p:graphicFrame>
        <p:nvGraphicFramePr>
          <p:cNvPr id="247" name="Table 247"/>
          <p:cNvGraphicFramePr>
            <a:graphicFrameLocks noGrp="1"/>
          </p:cNvGraphicFramePr>
          <p:nvPr/>
        </p:nvGraphicFramePr>
        <p:xfrm>
          <a:off x="640080" y="1554480"/>
          <a:ext cx="10881360" cy="4047744"/>
        </p:xfrm>
        <a:graphic>
          <a:graphicData uri="http://schemas.openxmlformats.org/drawingml/2006/table">
            <a:tbl>
              <a:tblPr/>
              <a:tblGrid>
                <a:gridCol w="32004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669280">
                  <a:extLst>
                    <a:ext uri="{9D8B030D-6E8A-4147-A177-3AD203B41FA5}">
                      <a16:colId xmlns:a16="http://schemas.microsoft.com/office/drawing/2014/main" val="20002"/>
                    </a:ext>
                  </a:extLst>
                </a:gridCol>
              </a:tblGrid>
              <a:tr h="301752">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Value</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Why</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extLst>
                  <a:ext uri="{0D108BD9-81ED-4DB2-BD59-A6C34878D82A}">
                    <a16:rowId xmlns:a16="http://schemas.microsoft.com/office/drawing/2014/main" val="10000"/>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Name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3 Months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What members see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1"/>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Description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Full gym access for three months.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Keep it to what the app actually shows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2"/>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Price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2400</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normal price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3"/>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Odoo Product Id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from finance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Ask, do not guess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4"/>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Duration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90</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LOCKS ON SAVE — three months in days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5"/>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Discounted Price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1800</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 offer price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6"/>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Save Percentage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25</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Because 1,800 is 25% off 2,400. Worked out by hand</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7"/>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Total Freeze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14</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LOCKS ON SAVE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8"/>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Min Freeze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3</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LOCKS ON SAVE — no one-day freezes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9"/>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Guest Invitations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2</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LOCKS ON SAVE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0"/>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Renew Before Expiry</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7</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They can buy their next block in the last week</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1"/>
                  </a:ext>
                </a:extLst>
              </a:tr>
              <a:tr h="301752">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Status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off, then 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Check the row in the list, then switch 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12"/>
                  </a:ext>
                </a:extLst>
              </a:tr>
            </a:tbl>
          </a:graphicData>
        </a:graphic>
      </p:graphicFrame>
      <p:sp>
        <p:nvSpPr>
          <p:cNvPr id="248" name="Text 248"/>
          <p:cNvSpPr/>
          <p:nvPr/>
        </p:nvSpPr>
        <p:spPr>
          <a:xfrm>
            <a:off x="640080" y="5943600"/>
            <a:ext cx="10881360" cy="365760"/>
          </a:xfrm>
          <a:prstGeom prst="rect">
            <a:avLst/>
          </a:prstGeom>
          <a:noFill/>
          <a:ln/>
        </p:spPr>
        <p:txBody>
          <a:bodyPr wrap="square" lIns="0" tIns="0" rIns="0" bIns="0" rtlCol="0" anchor="ctr"/>
          <a:lstStyle/>
          <a:p>
            <a:pPr marL="0" indent="0">
              <a:buNone/>
            </a:pPr>
            <a:r>
              <a:rPr lang="en-US" sz="1300" i="1" dirty="0">
                <a:solidFill>
                  <a:srgbClr val="7A6A64"/>
                </a:solidFill>
                <a:latin typeface="Calibri" pitchFamily="34" charset="0"/>
                <a:ea typeface="Calibri" pitchFamily="34" charset="-122"/>
                <a:cs typeface="Calibri" pitchFamily="34" charset="-120"/>
              </a:rPr>
              <a:t>The member sees: 3 Months · 1,800 EGP with 2,400 crossed out · save 25% · 90 days. Not the freeze days, and not the guest invitations.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85042"/>
        </a:solidFill>
        <a:effectLst/>
      </p:bgPr>
    </p:bg>
    <p:spTree>
      <p:nvGrpSpPr>
        <p:cNvPr id="1" name=""/>
        <p:cNvGrpSpPr/>
        <p:nvPr/>
      </p:nvGrpSpPr>
      <p:grpSpPr>
        <a:xfrm>
          <a:off x="0" y="0"/>
          <a:ext cx="0" cy="0"/>
          <a:chOff x="0" y="0"/>
          <a:chExt cx="0" cy="0"/>
        </a:xfrm>
      </p:grpSpPr>
      <p:sp>
        <p:nvSpPr>
          <p:cNvPr id="249" name="Shape 249"/>
          <p:cNvSpPr/>
          <p:nvPr/>
        </p:nvSpPr>
        <p:spPr>
          <a:xfrm>
            <a:off x="9326880" y="1005840"/>
            <a:ext cx="4206240" cy="4206240"/>
          </a:xfrm>
          <a:prstGeom prst="ellipse">
            <a:avLst/>
          </a:prstGeom>
          <a:solidFill>
            <a:srgbClr val="FFFFFF">
              <a:alpha val="12000"/>
            </a:srgbClr>
          </a:solidFill>
          <a:ln/>
        </p:spPr>
      </p:sp>
      <p:sp>
        <p:nvSpPr>
          <p:cNvPr id="250" name="Text 250"/>
          <p:cNvSpPr/>
          <p:nvPr/>
        </p:nvSpPr>
        <p:spPr>
          <a:xfrm>
            <a:off x="640080" y="2286000"/>
            <a:ext cx="7315200" cy="384048"/>
          </a:xfrm>
          <a:prstGeom prst="rect">
            <a:avLst/>
          </a:prstGeom>
          <a:noFill/>
          <a:ln/>
        </p:spPr>
        <p:txBody>
          <a:bodyPr wrap="square" lIns="0" tIns="0" rIns="0" bIns="0" rtlCol="0" anchor="ctr"/>
          <a:lstStyle/>
          <a:p>
            <a:pPr marL="0" indent="0">
              <a:buNone/>
            </a:pPr>
            <a:r>
              <a:rPr lang="en-US" sz="1400" b="1" kern="0" spc="300" dirty="0">
                <a:solidFill>
                  <a:srgbClr val="E7E8D1"/>
                </a:solidFill>
                <a:latin typeface="Calibri" pitchFamily="34" charset="0"/>
                <a:ea typeface="Calibri" pitchFamily="34" charset="-122"/>
                <a:cs typeface="Calibri" pitchFamily="34" charset="-120"/>
              </a:rPr>
              <a:t>Part 3</a:t>
            </a:r>
            <a:endParaRPr lang="en-US" sz="1400" dirty="0"/>
          </a:p>
        </p:txBody>
      </p:sp>
      <p:sp>
        <p:nvSpPr>
          <p:cNvPr id="251" name="Text 251"/>
          <p:cNvSpPr/>
          <p:nvPr/>
        </p:nvSpPr>
        <p:spPr>
          <a:xfrm>
            <a:off x="640080" y="2697480"/>
            <a:ext cx="8229600" cy="9144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Bookings &amp; cancellations</a:t>
            </a:r>
            <a:endParaRPr lang="en-US" sz="4800" dirty="0"/>
          </a:p>
        </p:txBody>
      </p:sp>
      <p:sp>
        <p:nvSpPr>
          <p:cNvPr id="252" name="Text 252"/>
          <p:cNvSpPr/>
          <p:nvPr/>
        </p:nvSpPr>
        <p:spPr>
          <a:xfrm>
            <a:off x="640080" y="3657600"/>
            <a:ext cx="7863840" cy="640080"/>
          </a:xfrm>
          <a:prstGeom prst="rect">
            <a:avLst/>
          </a:prstGeom>
          <a:noFill/>
          <a:ln/>
        </p:spPr>
        <p:txBody>
          <a:bodyPr wrap="square" lIns="0" tIns="0" rIns="0" bIns="0" rtlCol="0" anchor="ctr"/>
          <a:lstStyle/>
          <a:p>
            <a:pPr marL="0" indent="0">
              <a:buNone/>
            </a:pPr>
            <a:r>
              <a:rPr lang="en-US" sz="1700" dirty="0">
                <a:solidFill>
                  <a:srgbClr val="E7E8D1"/>
                </a:solidFill>
                <a:latin typeface="Calibri" pitchFamily="34" charset="0"/>
                <a:ea typeface="Calibri" pitchFamily="34" charset="-122"/>
                <a:cs typeface="Calibri" pitchFamily="34" charset="-120"/>
              </a:rPr>
              <a:t>One screen, two tabs — the record of who bought what, and who wants out.</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 name="Text 253"/>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bookings table</a:t>
            </a:r>
            <a:endParaRPr lang="en-US" sz="3400" dirty="0"/>
          </a:p>
        </p:txBody>
      </p:sp>
      <p:sp>
        <p:nvSpPr>
          <p:cNvPr id="254" name="Text 254"/>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A record, not a workflow. There is no board to move anything along.</a:t>
            </a:r>
            <a:endParaRPr lang="en-US" sz="1400" dirty="0"/>
          </a:p>
        </p:txBody>
      </p:sp>
      <p:sp>
        <p:nvSpPr>
          <p:cNvPr id="255" name="Shape 255"/>
          <p:cNvSpPr/>
          <p:nvPr/>
        </p:nvSpPr>
        <p:spPr>
          <a:xfrm>
            <a:off x="640080" y="1645920"/>
            <a:ext cx="10881360" cy="548640"/>
          </a:xfrm>
          <a:prstGeom prst="roundRect">
            <a:avLst>
              <a:gd name="adj" fmla="val 2222"/>
            </a:avLst>
          </a:prstGeom>
          <a:solidFill>
            <a:srgbClr val="FBF6F2"/>
          </a:solidFill>
          <a:ln w="12700">
            <a:solidFill>
              <a:srgbClr val="E8DFD6"/>
            </a:solidFill>
            <a:prstDash val="solid"/>
          </a:ln>
        </p:spPr>
      </p:sp>
      <p:sp>
        <p:nvSpPr>
          <p:cNvPr id="256" name="Shape 256"/>
          <p:cNvSpPr/>
          <p:nvPr/>
        </p:nvSpPr>
        <p:spPr>
          <a:xfrm>
            <a:off x="822960" y="1755648"/>
            <a:ext cx="2194560" cy="329184"/>
          </a:xfrm>
          <a:prstGeom prst="roundRect">
            <a:avLst>
              <a:gd name="adj" fmla="val 12000"/>
            </a:avLst>
          </a:prstGeom>
          <a:solidFill>
            <a:srgbClr val="2F8F5B"/>
          </a:solidFill>
          <a:ln/>
        </p:spPr>
      </p:sp>
      <p:sp>
        <p:nvSpPr>
          <p:cNvPr id="257" name="Text 257"/>
          <p:cNvSpPr/>
          <p:nvPr/>
        </p:nvSpPr>
        <p:spPr>
          <a:xfrm>
            <a:off x="822960" y="175564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Active</a:t>
            </a:r>
            <a:endParaRPr lang="en-US" sz="1200" dirty="0"/>
          </a:p>
        </p:txBody>
      </p:sp>
      <p:sp>
        <p:nvSpPr>
          <p:cNvPr id="258" name="Text 258"/>
          <p:cNvSpPr/>
          <p:nvPr/>
        </p:nvSpPr>
        <p:spPr>
          <a:xfrm>
            <a:off x="3200400" y="169164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Green</a:t>
            </a:r>
            <a:endParaRPr lang="en-US" sz="1200" dirty="0"/>
          </a:p>
        </p:txBody>
      </p:sp>
      <p:sp>
        <p:nvSpPr>
          <p:cNvPr id="259" name="Text 259"/>
          <p:cNvSpPr/>
          <p:nvPr/>
        </p:nvSpPr>
        <p:spPr>
          <a:xfrm>
            <a:off x="4389120" y="169164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Running now</a:t>
            </a:r>
            <a:endParaRPr lang="en-US" sz="1300" dirty="0"/>
          </a:p>
        </p:txBody>
      </p:sp>
      <p:sp>
        <p:nvSpPr>
          <p:cNvPr id="260" name="Shape 260"/>
          <p:cNvSpPr/>
          <p:nvPr/>
        </p:nvSpPr>
        <p:spPr>
          <a:xfrm>
            <a:off x="640080" y="2286000"/>
            <a:ext cx="10881360" cy="548640"/>
          </a:xfrm>
          <a:prstGeom prst="roundRect">
            <a:avLst>
              <a:gd name="adj" fmla="val 2222"/>
            </a:avLst>
          </a:prstGeom>
          <a:solidFill>
            <a:srgbClr val="FBF6F2"/>
          </a:solidFill>
          <a:ln w="12700">
            <a:solidFill>
              <a:srgbClr val="E8DFD6"/>
            </a:solidFill>
            <a:prstDash val="solid"/>
          </a:ln>
        </p:spPr>
      </p:sp>
      <p:sp>
        <p:nvSpPr>
          <p:cNvPr id="261" name="Shape 261"/>
          <p:cNvSpPr/>
          <p:nvPr/>
        </p:nvSpPr>
        <p:spPr>
          <a:xfrm>
            <a:off x="822960" y="2395728"/>
            <a:ext cx="2194560" cy="329184"/>
          </a:xfrm>
          <a:prstGeom prst="roundRect">
            <a:avLst>
              <a:gd name="adj" fmla="val 12000"/>
            </a:avLst>
          </a:prstGeom>
          <a:solidFill>
            <a:srgbClr val="8A8F94"/>
          </a:solidFill>
          <a:ln/>
        </p:spPr>
      </p:sp>
      <p:sp>
        <p:nvSpPr>
          <p:cNvPr id="262" name="Text 262"/>
          <p:cNvSpPr/>
          <p:nvPr/>
        </p:nvSpPr>
        <p:spPr>
          <a:xfrm>
            <a:off x="822960" y="239572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Expired</a:t>
            </a:r>
            <a:endParaRPr lang="en-US" sz="1200" dirty="0"/>
          </a:p>
        </p:txBody>
      </p:sp>
      <p:sp>
        <p:nvSpPr>
          <p:cNvPr id="263" name="Text 263"/>
          <p:cNvSpPr/>
          <p:nvPr/>
        </p:nvSpPr>
        <p:spPr>
          <a:xfrm>
            <a:off x="3200400" y="233172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Grey</a:t>
            </a:r>
            <a:endParaRPr lang="en-US" sz="1200" dirty="0"/>
          </a:p>
        </p:txBody>
      </p:sp>
      <p:sp>
        <p:nvSpPr>
          <p:cNvPr id="264" name="Text 264"/>
          <p:cNvSpPr/>
          <p:nvPr/>
        </p:nvSpPr>
        <p:spPr>
          <a:xfrm>
            <a:off x="4389120" y="233172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The end date has passed. Nothing went wrong</a:t>
            </a:r>
            <a:endParaRPr lang="en-US" sz="1300" dirty="0"/>
          </a:p>
        </p:txBody>
      </p:sp>
      <p:sp>
        <p:nvSpPr>
          <p:cNvPr id="265" name="Shape 265"/>
          <p:cNvSpPr/>
          <p:nvPr/>
        </p:nvSpPr>
        <p:spPr>
          <a:xfrm>
            <a:off x="640080" y="2926080"/>
            <a:ext cx="10881360" cy="548640"/>
          </a:xfrm>
          <a:prstGeom prst="roundRect">
            <a:avLst>
              <a:gd name="adj" fmla="val 2222"/>
            </a:avLst>
          </a:prstGeom>
          <a:solidFill>
            <a:srgbClr val="FBF6F2"/>
          </a:solidFill>
          <a:ln w="12700">
            <a:solidFill>
              <a:srgbClr val="E8DFD6"/>
            </a:solidFill>
            <a:prstDash val="solid"/>
          </a:ln>
        </p:spPr>
      </p:sp>
      <p:sp>
        <p:nvSpPr>
          <p:cNvPr id="266" name="Shape 266"/>
          <p:cNvSpPr/>
          <p:nvPr/>
        </p:nvSpPr>
        <p:spPr>
          <a:xfrm>
            <a:off x="822960" y="3035808"/>
            <a:ext cx="2194560" cy="329184"/>
          </a:xfrm>
          <a:prstGeom prst="roundRect">
            <a:avLst>
              <a:gd name="adj" fmla="val 12000"/>
            </a:avLst>
          </a:prstGeom>
          <a:solidFill>
            <a:srgbClr val="C0392B"/>
          </a:solidFill>
          <a:ln/>
        </p:spPr>
      </p:sp>
      <p:sp>
        <p:nvSpPr>
          <p:cNvPr id="267" name="Text 267"/>
          <p:cNvSpPr/>
          <p:nvPr/>
        </p:nvSpPr>
        <p:spPr>
          <a:xfrm>
            <a:off x="822960" y="303580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Cancelled</a:t>
            </a:r>
            <a:endParaRPr lang="en-US" sz="1200" dirty="0"/>
          </a:p>
        </p:txBody>
      </p:sp>
      <p:sp>
        <p:nvSpPr>
          <p:cNvPr id="268" name="Text 268"/>
          <p:cNvSpPr/>
          <p:nvPr/>
        </p:nvSpPr>
        <p:spPr>
          <a:xfrm>
            <a:off x="3200400" y="297180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Red</a:t>
            </a:r>
            <a:endParaRPr lang="en-US" sz="1200" dirty="0"/>
          </a:p>
        </p:txBody>
      </p:sp>
      <p:sp>
        <p:nvSpPr>
          <p:cNvPr id="269" name="Text 269"/>
          <p:cNvSpPr/>
          <p:nvPr/>
        </p:nvSpPr>
        <p:spPr>
          <a:xfrm>
            <a:off x="4389120" y="297180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Stopped early, and refunded</a:t>
            </a:r>
            <a:endParaRPr lang="en-US" sz="1300" dirty="0"/>
          </a:p>
        </p:txBody>
      </p:sp>
      <p:sp>
        <p:nvSpPr>
          <p:cNvPr id="270" name="Shape 270"/>
          <p:cNvSpPr/>
          <p:nvPr/>
        </p:nvSpPr>
        <p:spPr>
          <a:xfrm>
            <a:off x="640080" y="3657600"/>
            <a:ext cx="10881360" cy="896112"/>
          </a:xfrm>
          <a:prstGeom prst="roundRect">
            <a:avLst>
              <a:gd name="adj" fmla="val 2222"/>
            </a:avLst>
          </a:prstGeom>
          <a:solidFill>
            <a:srgbClr val="F0F4F0"/>
          </a:solidFill>
          <a:ln w="12700">
            <a:solidFill>
              <a:srgbClr val="A7BEAE"/>
            </a:solidFill>
            <a:prstDash val="solid"/>
          </a:ln>
        </p:spPr>
      </p:sp>
      <p:sp>
        <p:nvSpPr>
          <p:cNvPr id="271" name="Text 271"/>
          <p:cNvSpPr/>
          <p:nvPr/>
        </p:nvSpPr>
        <p:spPr>
          <a:xfrm>
            <a:off x="960120" y="376732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Booked By and Booked For are often different people.</a:t>
            </a:r>
            <a:endParaRPr lang="en-US" sz="1450" dirty="0"/>
          </a:p>
        </p:txBody>
      </p:sp>
      <p:sp>
        <p:nvSpPr>
          <p:cNvPr id="272" name="Text 272"/>
          <p:cNvSpPr/>
          <p:nvPr/>
        </p:nvSpPr>
        <p:spPr>
          <a:xfrm>
            <a:off x="960120" y="407822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A parent buying for a child makes them differ — and the discount applied comes from whoever is named in Booked By, not from the person the membership is for.</a:t>
            </a:r>
            <a:endParaRPr lang="en-US" sz="1300" dirty="0"/>
          </a:p>
        </p:txBody>
      </p:sp>
      <p:sp>
        <p:nvSpPr>
          <p:cNvPr id="273" name="Shape 273"/>
          <p:cNvSpPr/>
          <p:nvPr/>
        </p:nvSpPr>
        <p:spPr>
          <a:xfrm>
            <a:off x="640080" y="4663440"/>
            <a:ext cx="10881360" cy="1005840"/>
          </a:xfrm>
          <a:prstGeom prst="roundRect">
            <a:avLst>
              <a:gd name="adj" fmla="val 2222"/>
            </a:avLst>
          </a:prstGeom>
          <a:solidFill>
            <a:srgbClr val="F0F4F0"/>
          </a:solidFill>
          <a:ln w="12700">
            <a:solidFill>
              <a:srgbClr val="A7BEAE"/>
            </a:solidFill>
            <a:prstDash val="solid"/>
          </a:ln>
        </p:spPr>
      </p:sp>
      <p:sp>
        <p:nvSpPr>
          <p:cNvPr id="274" name="Text 274"/>
          <p:cNvSpPr/>
          <p:nvPr/>
        </p:nvSpPr>
        <p:spPr>
          <a:xfrm>
            <a:off x="960120" y="477316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Source is the column that answers "who did this".</a:t>
            </a:r>
            <a:endParaRPr lang="en-US" sz="1450" dirty="0"/>
          </a:p>
        </p:txBody>
      </p:sp>
      <p:sp>
        <p:nvSpPr>
          <p:cNvPr id="275" name="Text 275"/>
          <p:cNvSpPr/>
          <p:nvPr/>
        </p:nvSpPr>
        <p:spPr>
          <a:xfrm>
            <a:off x="960120" y="508406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App means the member bought it themselves. Admin Panel means somebody on your team created it. When a booking looks wrong, check Source first. Search by booked by, booked for, transaction ID or booking ID; filter by status, plan, source and dates; export the lot as a spreadsheet.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6" name="Text 276"/>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Booking on a member’s behalf</a:t>
            </a:r>
            <a:endParaRPr lang="en-US" sz="3400" dirty="0"/>
          </a:p>
        </p:txBody>
      </p:sp>
      <p:sp>
        <p:nvSpPr>
          <p:cNvPr id="277" name="Text 277"/>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Three steps. The last one is the one that matters.</a:t>
            </a:r>
            <a:endParaRPr lang="en-US" sz="1400" dirty="0"/>
          </a:p>
        </p:txBody>
      </p:sp>
      <p:sp>
        <p:nvSpPr>
          <p:cNvPr id="278" name="Shape 278"/>
          <p:cNvSpPr/>
          <p:nvPr/>
        </p:nvSpPr>
        <p:spPr>
          <a:xfrm>
            <a:off x="640080" y="1645920"/>
            <a:ext cx="10881360" cy="914400"/>
          </a:xfrm>
          <a:prstGeom prst="roundRect">
            <a:avLst>
              <a:gd name="adj" fmla="val 2222"/>
            </a:avLst>
          </a:prstGeom>
          <a:solidFill>
            <a:srgbClr val="FBF6F2"/>
          </a:solidFill>
          <a:ln w="12700">
            <a:solidFill>
              <a:srgbClr val="E8DFD6"/>
            </a:solidFill>
            <a:prstDash val="solid"/>
          </a:ln>
        </p:spPr>
      </p:sp>
      <p:sp>
        <p:nvSpPr>
          <p:cNvPr id="279" name="Shape 279"/>
          <p:cNvSpPr/>
          <p:nvPr/>
        </p:nvSpPr>
        <p:spPr>
          <a:xfrm>
            <a:off x="896112" y="1856232"/>
            <a:ext cx="420624" cy="420624"/>
          </a:xfrm>
          <a:prstGeom prst="ellipse">
            <a:avLst/>
          </a:prstGeom>
          <a:solidFill>
            <a:srgbClr val="B85042"/>
          </a:solidFill>
          <a:ln/>
        </p:spPr>
      </p:sp>
      <p:sp>
        <p:nvSpPr>
          <p:cNvPr id="280" name="Text 280"/>
          <p:cNvSpPr/>
          <p:nvPr/>
        </p:nvSpPr>
        <p:spPr>
          <a:xfrm>
            <a:off x="896112" y="185623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281" name="Text 281"/>
          <p:cNvSpPr/>
          <p:nvPr/>
        </p:nvSpPr>
        <p:spPr>
          <a:xfrm>
            <a:off x="1508760" y="175564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Select a Member</a:t>
            </a:r>
            <a:endParaRPr lang="en-US" sz="1500" dirty="0"/>
          </a:p>
        </p:txBody>
      </p:sp>
      <p:sp>
        <p:nvSpPr>
          <p:cNvPr id="282" name="Text 282"/>
          <p:cNvSpPr/>
          <p:nvPr/>
        </p:nvSpPr>
        <p:spPr>
          <a:xfrm>
            <a:off x="1508760" y="206654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Search the member list and pick a row. Age and Relationship to Central help tell family members apart.</a:t>
            </a:r>
            <a:endParaRPr lang="en-US" sz="1250" dirty="0"/>
          </a:p>
        </p:txBody>
      </p:sp>
      <p:sp>
        <p:nvSpPr>
          <p:cNvPr id="283" name="Shape 283"/>
          <p:cNvSpPr/>
          <p:nvPr/>
        </p:nvSpPr>
        <p:spPr>
          <a:xfrm>
            <a:off x="640080" y="2651760"/>
            <a:ext cx="10881360" cy="914400"/>
          </a:xfrm>
          <a:prstGeom prst="roundRect">
            <a:avLst>
              <a:gd name="adj" fmla="val 2222"/>
            </a:avLst>
          </a:prstGeom>
          <a:solidFill>
            <a:srgbClr val="FBF6F2"/>
          </a:solidFill>
          <a:ln w="12700">
            <a:solidFill>
              <a:srgbClr val="E8DFD6"/>
            </a:solidFill>
            <a:prstDash val="solid"/>
          </a:ln>
        </p:spPr>
      </p:sp>
      <p:sp>
        <p:nvSpPr>
          <p:cNvPr id="284" name="Shape 284"/>
          <p:cNvSpPr/>
          <p:nvPr/>
        </p:nvSpPr>
        <p:spPr>
          <a:xfrm>
            <a:off x="896112" y="2862072"/>
            <a:ext cx="420624" cy="420624"/>
          </a:xfrm>
          <a:prstGeom prst="ellipse">
            <a:avLst/>
          </a:prstGeom>
          <a:solidFill>
            <a:srgbClr val="B85042"/>
          </a:solidFill>
          <a:ln/>
        </p:spPr>
      </p:sp>
      <p:sp>
        <p:nvSpPr>
          <p:cNvPr id="285" name="Text 285"/>
          <p:cNvSpPr/>
          <p:nvPr/>
        </p:nvSpPr>
        <p:spPr>
          <a:xfrm>
            <a:off x="896112" y="286207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286" name="Text 286"/>
          <p:cNvSpPr/>
          <p:nvPr/>
        </p:nvSpPr>
        <p:spPr>
          <a:xfrm>
            <a:off x="1508760" y="276148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Select a Plan</a:t>
            </a:r>
            <a:endParaRPr lang="en-US" sz="1500" dirty="0"/>
          </a:p>
        </p:txBody>
      </p:sp>
      <p:sp>
        <p:nvSpPr>
          <p:cNvPr id="287" name="Text 287"/>
          <p:cNvSpPr/>
          <p:nvPr/>
        </p:nvSpPr>
        <p:spPr>
          <a:xfrm>
            <a:off x="1508760" y="307238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The same plans you manage. Inactive plans are still listed — check the Status column before selecting.</a:t>
            </a:r>
            <a:endParaRPr lang="en-US" sz="1250" dirty="0"/>
          </a:p>
        </p:txBody>
      </p:sp>
      <p:sp>
        <p:nvSpPr>
          <p:cNvPr id="288" name="Shape 288"/>
          <p:cNvSpPr/>
          <p:nvPr/>
        </p:nvSpPr>
        <p:spPr>
          <a:xfrm>
            <a:off x="640080" y="3657600"/>
            <a:ext cx="10881360" cy="914400"/>
          </a:xfrm>
          <a:prstGeom prst="roundRect">
            <a:avLst>
              <a:gd name="adj" fmla="val 2222"/>
            </a:avLst>
          </a:prstGeom>
          <a:solidFill>
            <a:srgbClr val="FBF6F2"/>
          </a:solidFill>
          <a:ln w="12700">
            <a:solidFill>
              <a:srgbClr val="E8DFD6"/>
            </a:solidFill>
            <a:prstDash val="solid"/>
          </a:ln>
        </p:spPr>
      </p:sp>
      <p:sp>
        <p:nvSpPr>
          <p:cNvPr id="289" name="Shape 289"/>
          <p:cNvSpPr/>
          <p:nvPr/>
        </p:nvSpPr>
        <p:spPr>
          <a:xfrm>
            <a:off x="896112" y="3867912"/>
            <a:ext cx="420624" cy="420624"/>
          </a:xfrm>
          <a:prstGeom prst="ellipse">
            <a:avLst/>
          </a:prstGeom>
          <a:solidFill>
            <a:srgbClr val="B85042"/>
          </a:solidFill>
          <a:ln/>
        </p:spPr>
      </p:sp>
      <p:sp>
        <p:nvSpPr>
          <p:cNvPr id="290" name="Text 290"/>
          <p:cNvSpPr/>
          <p:nvPr/>
        </p:nvSpPr>
        <p:spPr>
          <a:xfrm>
            <a:off x="896112" y="386791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91" name="Text 291"/>
          <p:cNvSpPr/>
          <p:nvPr/>
        </p:nvSpPr>
        <p:spPr>
          <a:xfrm>
            <a:off x="1508760" y="3767328"/>
            <a:ext cx="9692640" cy="310896"/>
          </a:xfrm>
          <a:prstGeom prst="rect">
            <a:avLst/>
          </a:prstGeom>
          <a:noFill/>
          <a:ln/>
        </p:spPr>
        <p:txBody>
          <a:bodyPr wrap="square" lIns="0" tIns="0" rIns="0" bIns="0" rtlCol="0" anchor="ctr"/>
          <a:lstStyle/>
          <a:p>
            <a:pPr marL="0" indent="0">
              <a:buNone/>
            </a:pPr>
            <a:r>
              <a:rPr lang="en-US" sz="1500" b="1" dirty="0">
                <a:solidFill>
                  <a:srgbClr val="2B2321"/>
                </a:solidFill>
                <a:latin typeface="Calibri" pitchFamily="34" charset="0"/>
                <a:ea typeface="Calibri" pitchFamily="34" charset="-122"/>
                <a:cs typeface="Calibri" pitchFamily="34" charset="-120"/>
              </a:rPr>
              <a:t>Payment Summary</a:t>
            </a:r>
            <a:endParaRPr lang="en-US" sz="1500" dirty="0"/>
          </a:p>
        </p:txBody>
      </p:sp>
      <p:sp>
        <p:nvSpPr>
          <p:cNvPr id="292" name="Text 292"/>
          <p:cNvSpPr/>
          <p:nvPr/>
        </p:nvSpPr>
        <p:spPr>
          <a:xfrm>
            <a:off x="1508760" y="4078224"/>
            <a:ext cx="9692640" cy="310896"/>
          </a:xfrm>
          <a:prstGeom prst="rect">
            <a:avLst/>
          </a:prstGeom>
          <a:noFill/>
          <a:ln/>
        </p:spPr>
        <p:txBody>
          <a:bodyPr wrap="square" lIns="0" tIns="0" rIns="0" bIns="0" rtlCol="0" anchor="ctr"/>
          <a:lstStyle/>
          <a:p>
            <a:pPr marL="0" indent="0">
              <a:buNone/>
            </a:pPr>
            <a:r>
              <a:rPr lang="en-US" sz="1250" dirty="0">
                <a:solidFill>
                  <a:srgbClr val="7A6A64"/>
                </a:solidFill>
                <a:latin typeface="Calibri" pitchFamily="34" charset="0"/>
                <a:ea typeface="Calibri" pitchFamily="34" charset="-122"/>
                <a:cs typeface="Calibri" pitchFamily="34" charset="-120"/>
              </a:rPr>
              <a:t>Shows Subtotal, Discount and Amount to be Paid. You fill in Booked By and the wallet Transaction ID.</a:t>
            </a:r>
            <a:endParaRPr lang="en-US" sz="1250" dirty="0"/>
          </a:p>
        </p:txBody>
      </p:sp>
      <p:sp>
        <p:nvSpPr>
          <p:cNvPr id="293" name="Shape 293"/>
          <p:cNvSpPr/>
          <p:nvPr/>
        </p:nvSpPr>
        <p:spPr>
          <a:xfrm>
            <a:off x="640080" y="4754880"/>
            <a:ext cx="10881360" cy="1005840"/>
          </a:xfrm>
          <a:prstGeom prst="roundRect">
            <a:avLst>
              <a:gd name="adj" fmla="val 2222"/>
            </a:avLst>
          </a:prstGeom>
          <a:solidFill>
            <a:srgbClr val="F0F4F0"/>
          </a:solidFill>
          <a:ln w="12700">
            <a:solidFill>
              <a:srgbClr val="A7BEAE"/>
            </a:solidFill>
            <a:prstDash val="solid"/>
          </a:ln>
        </p:spPr>
      </p:sp>
      <p:sp>
        <p:nvSpPr>
          <p:cNvPr id="294" name="Text 294"/>
          <p:cNvSpPr/>
          <p:nvPr/>
        </p:nvSpPr>
        <p:spPr>
          <a:xfrm>
            <a:off x="960120" y="486460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The panel does not take the payment. It records one.</a:t>
            </a:r>
            <a:endParaRPr lang="en-US" sz="1450" dirty="0"/>
          </a:p>
        </p:txBody>
      </p:sp>
      <p:sp>
        <p:nvSpPr>
          <p:cNvPr id="295" name="Text 295"/>
          <p:cNvSpPr/>
          <p:nvPr/>
        </p:nvSpPr>
        <p:spPr>
          <a:xfrm>
            <a:off x="960120" y="517550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Take the money through the wallet first, then paste that transaction’s ID here. Type a reference that does not exist and you have created a subscription nobody paid for, with nothing on screen to tell you.</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6" name="Text 296"/>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Cancelling a booking yourself</a:t>
            </a:r>
            <a:endParaRPr lang="en-US" sz="3400" dirty="0"/>
          </a:p>
        </p:txBody>
      </p:sp>
      <p:sp>
        <p:nvSpPr>
          <p:cNvPr id="297" name="Text 297"/>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For the member who phones instead of using the app.</a:t>
            </a:r>
            <a:endParaRPr lang="en-US" sz="1400" dirty="0"/>
          </a:p>
        </p:txBody>
      </p:sp>
      <p:graphicFrame>
        <p:nvGraphicFramePr>
          <p:cNvPr id="298" name="Table 298"/>
          <p:cNvGraphicFramePr>
            <a:graphicFrameLocks noGrp="1"/>
          </p:cNvGraphicFramePr>
          <p:nvPr/>
        </p:nvGraphicFramePr>
        <p:xfrm>
          <a:off x="640080" y="1554480"/>
          <a:ext cx="10881360" cy="1600200"/>
        </p:xfrm>
        <a:graphic>
          <a:graphicData uri="http://schemas.openxmlformats.org/drawingml/2006/table">
            <a:tbl>
              <a:tblPr/>
              <a:tblGrid>
                <a:gridCol w="32004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943600">
                  <a:extLst>
                    <a:ext uri="{9D8B030D-6E8A-4147-A177-3AD203B41FA5}">
                      <a16:colId xmlns:a16="http://schemas.microsoft.com/office/drawing/2014/main" val="20002"/>
                    </a:ext>
                  </a:extLst>
                </a:gridCol>
              </a:tblGrid>
              <a:tr h="32004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Field</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Required</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Notes</a:t>
                      </a:r>
                      <a:endParaRPr lang="en-US" sz="115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3D2320"/>
                    </a:solidFill>
                  </a:tcPr>
                </a:tc>
                <a:extLst>
                  <a:ext uri="{0D108BD9-81ED-4DB2-BD59-A6C34878D82A}">
                    <a16:rowId xmlns:a16="http://schemas.microsoft.com/office/drawing/2014/main" val="10000"/>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Requested By</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Yes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Who asked — the member, or one of their family</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1"/>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Reason For Cancel Booking</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Yes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Picked from a shared list, or Other</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2"/>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Enter Reason</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Only if Other</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Free text. Locked otherwise</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3"/>
                  </a:ext>
                </a:extLst>
              </a:tr>
              <a:tr h="320040">
                <a:tc>
                  <a:txBody>
                    <a:bodyPr/>
                    <a:lstStyle/>
                    <a:p>
                      <a:pPr marL="0" indent="0">
                        <a:buNone/>
                      </a:pPr>
                      <a:r>
                        <a:rPr lang="en-US" sz="1100" b="1" dirty="0">
                          <a:solidFill>
                            <a:srgbClr val="2B2321"/>
                          </a:solidFill>
                          <a:latin typeface="Calibri" pitchFamily="34" charset="0"/>
                          <a:ea typeface="Calibri" pitchFamily="34" charset="-122"/>
                          <a:cs typeface="Calibri" pitchFamily="34" charset="-120"/>
                        </a:rPr>
                        <a:t>Refund Amount</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Yes</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tc>
                  <a:txBody>
                    <a:bodyPr/>
                    <a:lstStyle/>
                    <a:p>
                      <a:pPr marL="0" indent="0">
                        <a:buNone/>
                      </a:pPr>
                      <a:r>
                        <a:rPr lang="en-US" sz="1100" dirty="0">
                          <a:solidFill>
                            <a:srgbClr val="2B2321"/>
                          </a:solidFill>
                          <a:latin typeface="Calibri" pitchFamily="34" charset="0"/>
                          <a:ea typeface="Calibri" pitchFamily="34" charset="-122"/>
                          <a:cs typeface="Calibri" pitchFamily="34" charset="-120"/>
                        </a:rPr>
                        <a:t>You type it. Cannot be negative or above the booking total</a:t>
                      </a:r>
                      <a:endParaRPr lang="en-US" sz="1100" dirty="0"/>
                    </a:p>
                  </a:txBody>
                  <a:tcPr anchor="ctr">
                    <a:lnL w="12700" cap="flat" cmpd="sng" algn="ctr">
                      <a:solidFill>
                        <a:srgbClr val="E8DFD6"/>
                      </a:solidFill>
                      <a:prstDash val="solid"/>
                      <a:round/>
                      <a:headEnd type="none" w="med" len="med"/>
                      <a:tailEnd type="none" w="med" len="med"/>
                    </a:lnL>
                    <a:lnR w="12700" cap="flat" cmpd="sng" algn="ctr">
                      <a:solidFill>
                        <a:srgbClr val="E8DFD6"/>
                      </a:solidFill>
                      <a:prstDash val="solid"/>
                      <a:round/>
                      <a:headEnd type="none" w="med" len="med"/>
                      <a:tailEnd type="none" w="med" len="med"/>
                    </a:lnR>
                    <a:lnT w="12700" cap="flat" cmpd="sng" algn="ctr">
                      <a:solidFill>
                        <a:srgbClr val="E8DFD6"/>
                      </a:solidFill>
                      <a:prstDash val="solid"/>
                      <a:round/>
                      <a:headEnd type="none" w="med" len="med"/>
                      <a:tailEnd type="none" w="med" len="med"/>
                    </a:lnT>
                    <a:lnB w="12700" cap="flat" cmpd="sng" algn="ctr">
                      <a:solidFill>
                        <a:srgbClr val="E8DFD6"/>
                      </a:solidFill>
                      <a:prstDash val="solid"/>
                      <a:round/>
                      <a:headEnd type="none" w="med" len="med"/>
                      <a:tailEnd type="none" w="med" len="med"/>
                    </a:lnB>
                    <a:solidFill>
                      <a:srgbClr val="FBF6F2"/>
                    </a:solidFill>
                  </a:tcPr>
                </a:tc>
                <a:extLst>
                  <a:ext uri="{0D108BD9-81ED-4DB2-BD59-A6C34878D82A}">
                    <a16:rowId xmlns:a16="http://schemas.microsoft.com/office/drawing/2014/main" val="10004"/>
                  </a:ext>
                </a:extLst>
              </a:tr>
            </a:tbl>
          </a:graphicData>
        </a:graphic>
      </p:graphicFrame>
      <p:sp>
        <p:nvSpPr>
          <p:cNvPr id="299" name="Shape 299"/>
          <p:cNvSpPr/>
          <p:nvPr/>
        </p:nvSpPr>
        <p:spPr>
          <a:xfrm>
            <a:off x="640080" y="3383280"/>
            <a:ext cx="10881360" cy="914400"/>
          </a:xfrm>
          <a:prstGeom prst="roundRect">
            <a:avLst>
              <a:gd name="adj" fmla="val 2222"/>
            </a:avLst>
          </a:prstGeom>
          <a:solidFill>
            <a:srgbClr val="F0F4F0"/>
          </a:solidFill>
          <a:ln w="12700">
            <a:solidFill>
              <a:srgbClr val="A7BEAE"/>
            </a:solidFill>
            <a:prstDash val="solid"/>
          </a:ln>
        </p:spPr>
      </p:sp>
      <p:sp>
        <p:nvSpPr>
          <p:cNvPr id="300" name="Text 300"/>
          <p:cNvSpPr/>
          <p:nvPr/>
        </p:nvSpPr>
        <p:spPr>
          <a:xfrm>
            <a:off x="960120" y="349300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Cancel Booking is greyed out on anything already cancelled or expired.</a:t>
            </a:r>
            <a:endParaRPr lang="en-US" sz="1450" dirty="0"/>
          </a:p>
        </p:txBody>
      </p:sp>
      <p:sp>
        <p:nvSpPr>
          <p:cNvPr id="301" name="Text 301"/>
          <p:cNvSpPr/>
          <p:nvPr/>
        </p:nvSpPr>
        <p:spPr>
          <a:xfrm>
            <a:off x="960120" y="380390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That is correct, not a fault. And there is no un-cancel: once confirmed the subscription stops and the refund goes to the member’s wallet.</a:t>
            </a:r>
            <a:endParaRPr lang="en-US" sz="1300" dirty="0"/>
          </a:p>
        </p:txBody>
      </p:sp>
      <p:sp>
        <p:nvSpPr>
          <p:cNvPr id="302" name="Shape 302"/>
          <p:cNvSpPr/>
          <p:nvPr/>
        </p:nvSpPr>
        <p:spPr>
          <a:xfrm>
            <a:off x="640080" y="4480560"/>
            <a:ext cx="10881360" cy="822960"/>
          </a:xfrm>
          <a:prstGeom prst="roundRect">
            <a:avLst>
              <a:gd name="adj" fmla="val 2222"/>
            </a:avLst>
          </a:prstGeom>
          <a:solidFill>
            <a:srgbClr val="F0F4F0"/>
          </a:solidFill>
          <a:ln w="12700">
            <a:solidFill>
              <a:srgbClr val="A7BEAE"/>
            </a:solidFill>
            <a:prstDash val="solid"/>
          </a:ln>
        </p:spPr>
      </p:sp>
      <p:sp>
        <p:nvSpPr>
          <p:cNvPr id="303" name="Text 303"/>
          <p:cNvSpPr/>
          <p:nvPr/>
        </p:nvSpPr>
        <p:spPr>
          <a:xfrm>
            <a:off x="960120" y="459028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The reason list is shared with the club’s other modules.</a:t>
            </a:r>
            <a:endParaRPr lang="en-US" sz="1450" dirty="0"/>
          </a:p>
        </p:txBody>
      </p:sp>
      <p:sp>
        <p:nvSpPr>
          <p:cNvPr id="304" name="Text 304"/>
          <p:cNvSpPr/>
          <p:nvPr/>
        </p:nvSpPr>
        <p:spPr>
          <a:xfrm>
            <a:off x="960120" y="490118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It is not managed from the Gym screens. If a reason you need is missing, ask the technical team.</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5" name="Text 305"/>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Cancellation requests</a:t>
            </a:r>
            <a:endParaRPr lang="en-US" sz="3400" dirty="0"/>
          </a:p>
        </p:txBody>
      </p:sp>
      <p:sp>
        <p:nvSpPr>
          <p:cNvPr id="306" name="Text 306"/>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The second tab. Members asking to cancel, waiting for your answer.</a:t>
            </a:r>
            <a:endParaRPr lang="en-US" sz="1400" dirty="0"/>
          </a:p>
        </p:txBody>
      </p:sp>
      <p:sp>
        <p:nvSpPr>
          <p:cNvPr id="307" name="Shape 307"/>
          <p:cNvSpPr/>
          <p:nvPr/>
        </p:nvSpPr>
        <p:spPr>
          <a:xfrm>
            <a:off x="640080" y="1645920"/>
            <a:ext cx="10881360" cy="548640"/>
          </a:xfrm>
          <a:prstGeom prst="roundRect">
            <a:avLst>
              <a:gd name="adj" fmla="val 2222"/>
            </a:avLst>
          </a:prstGeom>
          <a:solidFill>
            <a:srgbClr val="FBF6F2"/>
          </a:solidFill>
          <a:ln w="12700">
            <a:solidFill>
              <a:srgbClr val="E8DFD6"/>
            </a:solidFill>
            <a:prstDash val="solid"/>
          </a:ln>
        </p:spPr>
      </p:sp>
      <p:sp>
        <p:nvSpPr>
          <p:cNvPr id="308" name="Shape 308"/>
          <p:cNvSpPr/>
          <p:nvPr/>
        </p:nvSpPr>
        <p:spPr>
          <a:xfrm>
            <a:off x="822960" y="1755648"/>
            <a:ext cx="2194560" cy="329184"/>
          </a:xfrm>
          <a:prstGeom prst="roundRect">
            <a:avLst>
              <a:gd name="adj" fmla="val 12000"/>
            </a:avLst>
          </a:prstGeom>
          <a:solidFill>
            <a:srgbClr val="E08A2E"/>
          </a:solidFill>
          <a:ln/>
        </p:spPr>
      </p:sp>
      <p:sp>
        <p:nvSpPr>
          <p:cNvPr id="309" name="Text 309"/>
          <p:cNvSpPr/>
          <p:nvPr/>
        </p:nvSpPr>
        <p:spPr>
          <a:xfrm>
            <a:off x="822960" y="175564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Pending</a:t>
            </a:r>
            <a:endParaRPr lang="en-US" sz="1200" dirty="0"/>
          </a:p>
        </p:txBody>
      </p:sp>
      <p:sp>
        <p:nvSpPr>
          <p:cNvPr id="310" name="Text 310"/>
          <p:cNvSpPr/>
          <p:nvPr/>
        </p:nvSpPr>
        <p:spPr>
          <a:xfrm>
            <a:off x="3200400" y="169164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Orange</a:t>
            </a:r>
            <a:endParaRPr lang="en-US" sz="1200" dirty="0"/>
          </a:p>
        </p:txBody>
      </p:sp>
      <p:sp>
        <p:nvSpPr>
          <p:cNvPr id="311" name="Text 311"/>
          <p:cNvSpPr/>
          <p:nvPr/>
        </p:nvSpPr>
        <p:spPr>
          <a:xfrm>
            <a:off x="4389120" y="169164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Waiting for you. The membership is still running</a:t>
            </a:r>
            <a:endParaRPr lang="en-US" sz="1300" dirty="0"/>
          </a:p>
        </p:txBody>
      </p:sp>
      <p:sp>
        <p:nvSpPr>
          <p:cNvPr id="312" name="Shape 312"/>
          <p:cNvSpPr/>
          <p:nvPr/>
        </p:nvSpPr>
        <p:spPr>
          <a:xfrm>
            <a:off x="640080" y="2286000"/>
            <a:ext cx="10881360" cy="548640"/>
          </a:xfrm>
          <a:prstGeom prst="roundRect">
            <a:avLst>
              <a:gd name="adj" fmla="val 2222"/>
            </a:avLst>
          </a:prstGeom>
          <a:solidFill>
            <a:srgbClr val="FBF6F2"/>
          </a:solidFill>
          <a:ln w="12700">
            <a:solidFill>
              <a:srgbClr val="E8DFD6"/>
            </a:solidFill>
            <a:prstDash val="solid"/>
          </a:ln>
        </p:spPr>
      </p:sp>
      <p:sp>
        <p:nvSpPr>
          <p:cNvPr id="313" name="Shape 313"/>
          <p:cNvSpPr/>
          <p:nvPr/>
        </p:nvSpPr>
        <p:spPr>
          <a:xfrm>
            <a:off x="822960" y="2395728"/>
            <a:ext cx="2194560" cy="329184"/>
          </a:xfrm>
          <a:prstGeom prst="roundRect">
            <a:avLst>
              <a:gd name="adj" fmla="val 12000"/>
            </a:avLst>
          </a:prstGeom>
          <a:solidFill>
            <a:srgbClr val="2F8F5B"/>
          </a:solidFill>
          <a:ln/>
        </p:spPr>
      </p:sp>
      <p:sp>
        <p:nvSpPr>
          <p:cNvPr id="314" name="Text 314"/>
          <p:cNvSpPr/>
          <p:nvPr/>
        </p:nvSpPr>
        <p:spPr>
          <a:xfrm>
            <a:off x="822960" y="239572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Accepted</a:t>
            </a:r>
            <a:endParaRPr lang="en-US" sz="1200" dirty="0"/>
          </a:p>
        </p:txBody>
      </p:sp>
      <p:sp>
        <p:nvSpPr>
          <p:cNvPr id="315" name="Text 315"/>
          <p:cNvSpPr/>
          <p:nvPr/>
        </p:nvSpPr>
        <p:spPr>
          <a:xfrm>
            <a:off x="3200400" y="233172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Green</a:t>
            </a:r>
            <a:endParaRPr lang="en-US" sz="1200" dirty="0"/>
          </a:p>
        </p:txBody>
      </p:sp>
      <p:sp>
        <p:nvSpPr>
          <p:cNvPr id="316" name="Text 316"/>
          <p:cNvSpPr/>
          <p:nvPr/>
        </p:nvSpPr>
        <p:spPr>
          <a:xfrm>
            <a:off x="4389120" y="233172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You cancelled the subscription and refunded</a:t>
            </a:r>
            <a:endParaRPr lang="en-US" sz="1300" dirty="0"/>
          </a:p>
        </p:txBody>
      </p:sp>
      <p:sp>
        <p:nvSpPr>
          <p:cNvPr id="317" name="Shape 317"/>
          <p:cNvSpPr/>
          <p:nvPr/>
        </p:nvSpPr>
        <p:spPr>
          <a:xfrm>
            <a:off x="640080" y="2926080"/>
            <a:ext cx="10881360" cy="548640"/>
          </a:xfrm>
          <a:prstGeom prst="roundRect">
            <a:avLst>
              <a:gd name="adj" fmla="val 2222"/>
            </a:avLst>
          </a:prstGeom>
          <a:solidFill>
            <a:srgbClr val="FBF6F2"/>
          </a:solidFill>
          <a:ln w="12700">
            <a:solidFill>
              <a:srgbClr val="E8DFD6"/>
            </a:solidFill>
            <a:prstDash val="solid"/>
          </a:ln>
        </p:spPr>
      </p:sp>
      <p:sp>
        <p:nvSpPr>
          <p:cNvPr id="318" name="Shape 318"/>
          <p:cNvSpPr/>
          <p:nvPr/>
        </p:nvSpPr>
        <p:spPr>
          <a:xfrm>
            <a:off x="822960" y="3035808"/>
            <a:ext cx="2194560" cy="329184"/>
          </a:xfrm>
          <a:prstGeom prst="roundRect">
            <a:avLst>
              <a:gd name="adj" fmla="val 12000"/>
            </a:avLst>
          </a:prstGeom>
          <a:solidFill>
            <a:srgbClr val="C0392B"/>
          </a:solidFill>
          <a:ln/>
        </p:spPr>
      </p:sp>
      <p:sp>
        <p:nvSpPr>
          <p:cNvPr id="319" name="Text 319"/>
          <p:cNvSpPr/>
          <p:nvPr/>
        </p:nvSpPr>
        <p:spPr>
          <a:xfrm>
            <a:off x="822960" y="3035808"/>
            <a:ext cx="219456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Rejected</a:t>
            </a:r>
            <a:endParaRPr lang="en-US" sz="1200" dirty="0"/>
          </a:p>
        </p:txBody>
      </p:sp>
      <p:sp>
        <p:nvSpPr>
          <p:cNvPr id="320" name="Text 320"/>
          <p:cNvSpPr/>
          <p:nvPr/>
        </p:nvSpPr>
        <p:spPr>
          <a:xfrm>
            <a:off x="3200400" y="2971800"/>
            <a:ext cx="1097280" cy="457200"/>
          </a:xfrm>
          <a:prstGeom prst="rect">
            <a:avLst/>
          </a:prstGeom>
          <a:noFill/>
          <a:ln/>
        </p:spPr>
        <p:txBody>
          <a:bodyPr wrap="square" lIns="0" tIns="0" rIns="0" bIns="0" rtlCol="0" anchor="ctr"/>
          <a:lstStyle/>
          <a:p>
            <a:pPr marL="0" indent="0">
              <a:buNone/>
            </a:pPr>
            <a:r>
              <a:rPr lang="en-US" sz="1200" i="1" dirty="0">
                <a:solidFill>
                  <a:srgbClr val="7A6A64"/>
                </a:solidFill>
                <a:latin typeface="Calibri" pitchFamily="34" charset="0"/>
                <a:ea typeface="Calibri" pitchFamily="34" charset="-122"/>
                <a:cs typeface="Calibri" pitchFamily="34" charset="-120"/>
              </a:rPr>
              <a:t>Red</a:t>
            </a:r>
            <a:endParaRPr lang="en-US" sz="1200" dirty="0"/>
          </a:p>
        </p:txBody>
      </p:sp>
      <p:sp>
        <p:nvSpPr>
          <p:cNvPr id="321" name="Text 321"/>
          <p:cNvSpPr/>
          <p:nvPr/>
        </p:nvSpPr>
        <p:spPr>
          <a:xfrm>
            <a:off x="4389120" y="2971800"/>
            <a:ext cx="685800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You said no. The subscription carries on</a:t>
            </a:r>
            <a:endParaRPr lang="en-US" sz="1300" dirty="0"/>
          </a:p>
        </p:txBody>
      </p:sp>
      <p:sp>
        <p:nvSpPr>
          <p:cNvPr id="322" name="Shape 322"/>
          <p:cNvSpPr/>
          <p:nvPr/>
        </p:nvSpPr>
        <p:spPr>
          <a:xfrm>
            <a:off x="640080" y="3657600"/>
            <a:ext cx="10881360" cy="822960"/>
          </a:xfrm>
          <a:prstGeom prst="roundRect">
            <a:avLst>
              <a:gd name="adj" fmla="val 2222"/>
            </a:avLst>
          </a:prstGeom>
          <a:solidFill>
            <a:srgbClr val="F0F4F0"/>
          </a:solidFill>
          <a:ln w="12700">
            <a:solidFill>
              <a:srgbClr val="A7BEAE"/>
            </a:solidFill>
            <a:prstDash val="solid"/>
          </a:ln>
        </p:spPr>
      </p:sp>
      <p:sp>
        <p:nvSpPr>
          <p:cNvPr id="323" name="Text 323"/>
          <p:cNvSpPr/>
          <p:nvPr/>
        </p:nvSpPr>
        <p:spPr>
          <a:xfrm>
            <a:off x="960120" y="376732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Only Pending rows can be opened.</a:t>
            </a:r>
            <a:endParaRPr lang="en-US" sz="1450" dirty="0"/>
          </a:p>
        </p:txBody>
      </p:sp>
      <p:sp>
        <p:nvSpPr>
          <p:cNvPr id="324" name="Text 324"/>
          <p:cNvSpPr/>
          <p:nvPr/>
        </p:nvSpPr>
        <p:spPr>
          <a:xfrm>
            <a:off x="960120" y="407822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The action button is greyed out on anything already answered. A request is answered once, and your name lands in the Handled By column.</a:t>
            </a:r>
            <a:endParaRPr lang="en-US" sz="1300" dirty="0"/>
          </a:p>
        </p:txBody>
      </p:sp>
      <p:sp>
        <p:nvSpPr>
          <p:cNvPr id="325" name="Shape 325"/>
          <p:cNvSpPr/>
          <p:nvPr/>
        </p:nvSpPr>
        <p:spPr>
          <a:xfrm>
            <a:off x="640080" y="4663440"/>
            <a:ext cx="10881360" cy="1005840"/>
          </a:xfrm>
          <a:prstGeom prst="roundRect">
            <a:avLst>
              <a:gd name="adj" fmla="val 2222"/>
            </a:avLst>
          </a:prstGeom>
          <a:solidFill>
            <a:srgbClr val="F0F4F0"/>
          </a:solidFill>
          <a:ln w="12700">
            <a:solidFill>
              <a:srgbClr val="A7BEAE"/>
            </a:solidFill>
            <a:prstDash val="solid"/>
          </a:ln>
        </p:spPr>
      </p:sp>
      <p:sp>
        <p:nvSpPr>
          <p:cNvPr id="326" name="Text 326"/>
          <p:cNvSpPr/>
          <p:nvPr/>
        </p:nvSpPr>
        <p:spPr>
          <a:xfrm>
            <a:off x="960120" y="477316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A pending request is still a running membership.</a:t>
            </a:r>
            <a:endParaRPr lang="en-US" sz="1450" dirty="0"/>
          </a:p>
        </p:txBody>
      </p:sp>
      <p:sp>
        <p:nvSpPr>
          <p:cNvPr id="327" name="Text 327"/>
          <p:cNvSpPr/>
          <p:nvPr/>
        </p:nvSpPr>
        <p:spPr>
          <a:xfrm>
            <a:off x="960120" y="508406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Leaving requests unanswered means members keep the access they asked to give up. Clear the Pending filter daily. The window shows you Days Passed against Duration — that pair is what your decision rests 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8" name="Text 328"/>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The refund amount is yours to type</a:t>
            </a:r>
            <a:endParaRPr lang="en-US" sz="3400" dirty="0"/>
          </a:p>
        </p:txBody>
      </p:sp>
      <p:sp>
        <p:nvSpPr>
          <p:cNvPr id="329" name="Text 329"/>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One editable field in the whole window. It opens at zero.</a:t>
            </a:r>
            <a:endParaRPr lang="en-US" sz="1400" dirty="0"/>
          </a:p>
        </p:txBody>
      </p:sp>
      <p:sp>
        <p:nvSpPr>
          <p:cNvPr id="330" name="Shape 330"/>
          <p:cNvSpPr/>
          <p:nvPr/>
        </p:nvSpPr>
        <p:spPr>
          <a:xfrm>
            <a:off x="640080" y="1691640"/>
            <a:ext cx="5212080" cy="256032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331" name="Text 331"/>
          <p:cNvSpPr/>
          <p:nvPr/>
        </p:nvSpPr>
        <p:spPr>
          <a:xfrm>
            <a:off x="960120" y="1874520"/>
            <a:ext cx="4572000" cy="457200"/>
          </a:xfrm>
          <a:prstGeom prst="rect">
            <a:avLst/>
          </a:prstGeom>
          <a:noFill/>
          <a:ln/>
        </p:spPr>
        <p:txBody>
          <a:bodyPr wrap="square" lIns="0" tIns="0" rIns="0" bIns="0" rtlCol="0" anchor="ctr"/>
          <a:lstStyle/>
          <a:p>
            <a:pPr marL="0" indent="0">
              <a:buNone/>
            </a:pPr>
            <a:r>
              <a:rPr lang="en-US" sz="2600" b="1" dirty="0">
                <a:solidFill>
                  <a:srgbClr val="A7BEAE"/>
                </a:solidFill>
                <a:latin typeface="Cambria" pitchFamily="34" charset="0"/>
                <a:ea typeface="Cambria" pitchFamily="34" charset="-122"/>
                <a:cs typeface="Cambria" pitchFamily="34" charset="-120"/>
              </a:rPr>
              <a:t>What the panel does</a:t>
            </a:r>
            <a:endParaRPr lang="en-US" sz="2600" dirty="0"/>
          </a:p>
        </p:txBody>
      </p:sp>
      <p:sp>
        <p:nvSpPr>
          <p:cNvPr id="332" name="Text 332"/>
          <p:cNvSpPr/>
          <p:nvPr/>
        </p:nvSpPr>
        <p:spPr>
          <a:xfrm>
            <a:off x="960120" y="2395728"/>
            <a:ext cx="4572000"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Shows you what they paid, what they have used, and how far through they are.</a:t>
            </a:r>
            <a:endParaRPr lang="en-US" sz="1450" dirty="0"/>
          </a:p>
        </p:txBody>
      </p:sp>
      <p:sp>
        <p:nvSpPr>
          <p:cNvPr id="333" name="Text 333"/>
          <p:cNvSpPr/>
          <p:nvPr/>
        </p:nvSpPr>
        <p:spPr>
          <a:xfrm>
            <a:off x="960120" y="3017520"/>
            <a:ext cx="4572000" cy="548640"/>
          </a:xfrm>
          <a:prstGeom prst="rect">
            <a:avLst/>
          </a:prstGeom>
          <a:noFill/>
          <a:ln/>
        </p:spPr>
        <p:txBody>
          <a:bodyPr wrap="square" lIns="0" tIns="0" rIns="0" bIns="0" rtlCol="0" anchor="ctr"/>
          <a:lstStyle/>
          <a:p>
            <a:pPr marL="0" indent="0">
              <a:buNone/>
            </a:pPr>
            <a:r>
              <a:rPr lang="en-US" sz="1300" dirty="0">
                <a:solidFill>
                  <a:srgbClr val="E7E8D1"/>
                </a:solidFill>
                <a:latin typeface="Calibri" pitchFamily="34" charset="0"/>
                <a:ea typeface="Calibri" pitchFamily="34" charset="-122"/>
                <a:cs typeface="Calibri" pitchFamily="34" charset="-120"/>
              </a:rPr>
              <a:t>Requested By, plan, dates, Total Paid, Used Freeze Days, Used Invitations, Days Passed, and their own written reason — all read-only.</a:t>
            </a:r>
            <a:endParaRPr lang="en-US" sz="1300" dirty="0"/>
          </a:p>
        </p:txBody>
      </p:sp>
      <p:sp>
        <p:nvSpPr>
          <p:cNvPr id="334" name="Text 334"/>
          <p:cNvSpPr/>
          <p:nvPr/>
        </p:nvSpPr>
        <p:spPr>
          <a:xfrm>
            <a:off x="960120" y="3657600"/>
            <a:ext cx="4572000" cy="365760"/>
          </a:xfrm>
          <a:prstGeom prst="rect">
            <a:avLst/>
          </a:prstGeom>
          <a:noFill/>
          <a:ln/>
        </p:spPr>
        <p:txBody>
          <a:bodyPr wrap="square" lIns="0" tIns="0" rIns="0" bIns="0" rtlCol="0" anchor="ctr"/>
          <a:lstStyle/>
          <a:p>
            <a:pPr marL="0" indent="0">
              <a:buNone/>
            </a:pPr>
            <a:r>
              <a:rPr lang="en-US" sz="1300" i="1" dirty="0">
                <a:solidFill>
                  <a:srgbClr val="A7BEAE"/>
                </a:solidFill>
                <a:latin typeface="Calibri" pitchFamily="34" charset="0"/>
                <a:ea typeface="Calibri" pitchFamily="34" charset="-122"/>
                <a:cs typeface="Calibri" pitchFamily="34" charset="-120"/>
              </a:rPr>
              <a:t>It informs. It does not decide</a:t>
            </a:r>
            <a:endParaRPr lang="en-US" sz="1300" dirty="0"/>
          </a:p>
        </p:txBody>
      </p:sp>
      <p:sp>
        <p:nvSpPr>
          <p:cNvPr id="335" name="Shape 335"/>
          <p:cNvSpPr/>
          <p:nvPr/>
        </p:nvSpPr>
        <p:spPr>
          <a:xfrm>
            <a:off x="6309360" y="1691640"/>
            <a:ext cx="5212080" cy="256032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336" name="Text 336"/>
          <p:cNvSpPr/>
          <p:nvPr/>
        </p:nvSpPr>
        <p:spPr>
          <a:xfrm>
            <a:off x="6629400" y="1874520"/>
            <a:ext cx="4572000" cy="457200"/>
          </a:xfrm>
          <a:prstGeom prst="rect">
            <a:avLst/>
          </a:prstGeom>
          <a:noFill/>
          <a:ln/>
        </p:spPr>
        <p:txBody>
          <a:bodyPr wrap="square" lIns="0" tIns="0" rIns="0" bIns="0"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What you do</a:t>
            </a:r>
            <a:endParaRPr lang="en-US" sz="2600" dirty="0"/>
          </a:p>
        </p:txBody>
      </p:sp>
      <p:sp>
        <p:nvSpPr>
          <p:cNvPr id="337" name="Text 337"/>
          <p:cNvSpPr/>
          <p:nvPr/>
        </p:nvSpPr>
        <p:spPr>
          <a:xfrm>
            <a:off x="6629400" y="2395728"/>
            <a:ext cx="4572000" cy="548640"/>
          </a:xfrm>
          <a:prstGeom prst="rect">
            <a:avLst/>
          </a:prstGeom>
          <a:noFill/>
          <a:ln/>
        </p:spPr>
        <p:txBody>
          <a:bodyPr wrap="square" lIns="0" tIns="0" rIns="0" bIns="0" rtlCol="0" anchor="ctr"/>
          <a:lstStyle/>
          <a:p>
            <a:pPr marL="0" indent="0">
              <a:buNone/>
            </a:pPr>
            <a:r>
              <a:rPr lang="en-US" sz="1450" b="1" dirty="0">
                <a:solidFill>
                  <a:srgbClr val="2B2321"/>
                </a:solidFill>
                <a:latin typeface="Calibri" pitchFamily="34" charset="0"/>
                <a:ea typeface="Calibri" pitchFamily="34" charset="-122"/>
                <a:cs typeface="Calibri" pitchFamily="34" charset="-120"/>
              </a:rPr>
              <a:t>Work the refund out and type it.</a:t>
            </a:r>
            <a:endParaRPr lang="en-US" sz="1450" dirty="0"/>
          </a:p>
        </p:txBody>
      </p:sp>
      <p:sp>
        <p:nvSpPr>
          <p:cNvPr id="338" name="Text 338"/>
          <p:cNvSpPr/>
          <p:nvPr/>
        </p:nvSpPr>
        <p:spPr>
          <a:xfrm>
            <a:off x="6629400" y="3017520"/>
            <a:ext cx="4572000" cy="548640"/>
          </a:xfrm>
          <a:prstGeom prst="rect">
            <a:avLst/>
          </a:prstGeom>
          <a:noFill/>
          <a:ln/>
        </p:spPr>
        <p:txBody>
          <a:bodyPr wrap="square" lIns="0" tIns="0" rIns="0" bIns="0" rtlCol="0" anchor="ctr"/>
          <a:lstStyle/>
          <a:p>
            <a:pPr marL="0" indent="0">
              <a:buNone/>
            </a:pPr>
            <a:r>
              <a:rPr lang="en-US" sz="1300" dirty="0">
                <a:solidFill>
                  <a:srgbClr val="7A6A64"/>
                </a:solidFill>
                <a:latin typeface="Calibri" pitchFamily="34" charset="0"/>
                <a:ea typeface="Calibri" pitchFamily="34" charset="-122"/>
                <a:cs typeface="Calibri" pitchFamily="34" charset="-120"/>
              </a:rPr>
              <a:t>Start from Total Paid, take off the Fixed fee, take off the Percentage share, adjust for Days Passed if that is your practice. Minimum 0, maximum what they paid, two decimals.</a:t>
            </a:r>
            <a:endParaRPr lang="en-US" sz="1300" dirty="0"/>
          </a:p>
        </p:txBody>
      </p:sp>
      <p:sp>
        <p:nvSpPr>
          <p:cNvPr id="339" name="Text 339"/>
          <p:cNvSpPr/>
          <p:nvPr/>
        </p:nvSpPr>
        <p:spPr>
          <a:xfrm>
            <a:off x="6629400" y="3657600"/>
            <a:ext cx="4572000" cy="36576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Every single time</a:t>
            </a:r>
            <a:endParaRPr lang="en-US" sz="1300" dirty="0"/>
          </a:p>
        </p:txBody>
      </p:sp>
      <p:sp>
        <p:nvSpPr>
          <p:cNvPr id="340" name="Shape 340"/>
          <p:cNvSpPr/>
          <p:nvPr/>
        </p:nvSpPr>
        <p:spPr>
          <a:xfrm>
            <a:off x="640080" y="4480560"/>
            <a:ext cx="10881360" cy="1005840"/>
          </a:xfrm>
          <a:prstGeom prst="roundRect">
            <a:avLst>
              <a:gd name="adj" fmla="val 2222"/>
            </a:avLst>
          </a:prstGeom>
          <a:solidFill>
            <a:srgbClr val="F0F4F0"/>
          </a:solidFill>
          <a:ln w="12700">
            <a:solidFill>
              <a:srgbClr val="A7BEAE"/>
            </a:solidFill>
            <a:prstDash val="solid"/>
          </a:ln>
        </p:spPr>
      </p:sp>
      <p:sp>
        <p:nvSpPr>
          <p:cNvPr id="341" name="Text 341"/>
          <p:cNvSpPr/>
          <p:nvPr/>
        </p:nvSpPr>
        <p:spPr>
          <a:xfrm>
            <a:off x="960120" y="459028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Both buttons stay dead until you tick "Im sure about my response".</a:t>
            </a:r>
            <a:endParaRPr lang="en-US" sz="1450" dirty="0"/>
          </a:p>
        </p:txBody>
      </p:sp>
      <p:sp>
        <p:nvSpPr>
          <p:cNvPr id="342" name="Text 342"/>
          <p:cNvSpPr/>
          <p:nvPr/>
        </p:nvSpPr>
        <p:spPr>
          <a:xfrm>
            <a:off x="960120" y="490118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Then Accept cancels and refunds, Reject changes nothing. Either one locks the window for good — there is no undo and no partial correction. Leaving the box at zero and accepting is a real decision: it cancels and refunds nothing.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3" name="Text 343"/>
          <p:cNvSpPr/>
          <p:nvPr/>
        </p:nvSpPr>
        <p:spPr>
          <a:xfrm>
            <a:off x="640080" y="384048"/>
            <a:ext cx="10881360" cy="658368"/>
          </a:xfrm>
          <a:prstGeom prst="rect">
            <a:avLst/>
          </a:prstGeom>
          <a:noFill/>
          <a:ln/>
        </p:spPr>
        <p:txBody>
          <a:bodyPr wrap="square" lIns="0" tIns="0" rIns="0" bIns="0" rtlCol="0" anchor="ctr"/>
          <a:lstStyle/>
          <a:p>
            <a:pPr marL="0" indent="0">
              <a:buNone/>
            </a:pPr>
            <a:r>
              <a:rPr lang="en-US" sz="3400" b="1" dirty="0">
                <a:solidFill>
                  <a:srgbClr val="2B2321"/>
                </a:solidFill>
                <a:latin typeface="Cambria" pitchFamily="34" charset="0"/>
                <a:ea typeface="Cambria" pitchFamily="34" charset="-122"/>
                <a:cs typeface="Cambria" pitchFamily="34" charset="-120"/>
              </a:rPr>
              <a:t>Who can do what</a:t>
            </a:r>
            <a:endParaRPr lang="en-US" sz="3400" dirty="0"/>
          </a:p>
        </p:txBody>
      </p:sp>
      <p:sp>
        <p:nvSpPr>
          <p:cNvPr id="344" name="Text 344"/>
          <p:cNvSpPr/>
          <p:nvPr/>
        </p:nvSpPr>
        <p:spPr>
          <a:xfrm>
            <a:off x="640080" y="1060704"/>
            <a:ext cx="10881360" cy="384048"/>
          </a:xfrm>
          <a:prstGeom prst="rect">
            <a:avLst/>
          </a:prstGeom>
          <a:noFill/>
          <a:ln/>
        </p:spPr>
        <p:txBody>
          <a:bodyPr wrap="square" lIns="0" tIns="0" rIns="0" bIns="0" rtlCol="0" anchor="ctr"/>
          <a:lstStyle/>
          <a:p>
            <a:pPr marL="0" indent="0">
              <a:buNone/>
            </a:pPr>
            <a:r>
              <a:rPr lang="en-US" sz="1400" dirty="0">
                <a:solidFill>
                  <a:srgbClr val="7A6A64"/>
                </a:solidFill>
                <a:latin typeface="Calibri" pitchFamily="34" charset="0"/>
                <a:ea typeface="Calibri" pitchFamily="34" charset="-122"/>
                <a:cs typeface="Calibri" pitchFamily="34" charset="-120"/>
              </a:rPr>
              <a:t>Gym does not have the two-layer permission system Dining has. Only one screen even checks.</a:t>
            </a:r>
            <a:endParaRPr lang="en-US" sz="1400" dirty="0"/>
          </a:p>
        </p:txBody>
      </p:sp>
      <p:sp>
        <p:nvSpPr>
          <p:cNvPr id="345" name="Shape 345"/>
          <p:cNvSpPr/>
          <p:nvPr/>
        </p:nvSpPr>
        <p:spPr>
          <a:xfrm>
            <a:off x="640080" y="1691640"/>
            <a:ext cx="5212080" cy="2560320"/>
          </a:xfrm>
          <a:prstGeom prst="roundRect">
            <a:avLst>
              <a:gd name="adj" fmla="val 2222"/>
            </a:avLst>
          </a:prstGeom>
          <a:solidFill>
            <a:srgbClr val="3D2320"/>
          </a:solidFill>
          <a:ln w="12700">
            <a:solidFill>
              <a:srgbClr val="3D2320"/>
            </a:solidFill>
            <a:prstDash val="solid"/>
          </a:ln>
          <a:effectLst>
            <a:outerShdw blurRad="127000" dist="508" dir="5400000" algn="bl" rotWithShape="0">
              <a:srgbClr val="000000">
                <a:alpha val="10000"/>
              </a:srgbClr>
            </a:outerShdw>
          </a:effectLst>
        </p:spPr>
      </p:sp>
      <p:sp>
        <p:nvSpPr>
          <p:cNvPr id="346" name="Text 346"/>
          <p:cNvSpPr/>
          <p:nvPr/>
        </p:nvSpPr>
        <p:spPr>
          <a:xfrm>
            <a:off x="960120" y="1874520"/>
            <a:ext cx="4572000" cy="457200"/>
          </a:xfrm>
          <a:prstGeom prst="rect">
            <a:avLst/>
          </a:prstGeom>
          <a:noFill/>
          <a:ln/>
        </p:spPr>
        <p:txBody>
          <a:bodyPr wrap="square" lIns="0" tIns="0" rIns="0" bIns="0" rtlCol="0" anchor="ctr"/>
          <a:lstStyle/>
          <a:p>
            <a:pPr marL="0" indent="0">
              <a:buNone/>
            </a:pPr>
            <a:r>
              <a:rPr lang="en-US" sz="2600" b="1" dirty="0">
                <a:solidFill>
                  <a:srgbClr val="A7BEAE"/>
                </a:solidFill>
                <a:latin typeface="Cambria" pitchFamily="34" charset="0"/>
                <a:ea typeface="Cambria" pitchFamily="34" charset="-122"/>
                <a:cs typeface="Cambria" pitchFamily="34" charset="-120"/>
              </a:rPr>
              <a:t>Subscription Plans</a:t>
            </a:r>
            <a:endParaRPr lang="en-US" sz="2600" dirty="0"/>
          </a:p>
        </p:txBody>
      </p:sp>
      <p:sp>
        <p:nvSpPr>
          <p:cNvPr id="347" name="Text 347"/>
          <p:cNvSpPr/>
          <p:nvPr/>
        </p:nvSpPr>
        <p:spPr>
          <a:xfrm>
            <a:off x="960120" y="2395728"/>
            <a:ext cx="4572000" cy="5486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Superadmins get the table. Everyone else gets a "not authorised" message.</a:t>
            </a:r>
            <a:endParaRPr lang="en-US" sz="1450" dirty="0"/>
          </a:p>
        </p:txBody>
      </p:sp>
      <p:sp>
        <p:nvSpPr>
          <p:cNvPr id="348" name="Text 348"/>
          <p:cNvSpPr/>
          <p:nvPr/>
        </p:nvSpPr>
        <p:spPr>
          <a:xfrm>
            <a:off x="960120" y="3017520"/>
            <a:ext cx="4572000" cy="548640"/>
          </a:xfrm>
          <a:prstGeom prst="rect">
            <a:avLst/>
          </a:prstGeom>
          <a:noFill/>
          <a:ln/>
        </p:spPr>
        <p:txBody>
          <a:bodyPr wrap="square" lIns="0" tIns="0" rIns="0" bIns="0" rtlCol="0" anchor="ctr"/>
          <a:lstStyle/>
          <a:p>
            <a:pPr marL="0" indent="0">
              <a:buNone/>
            </a:pPr>
            <a:r>
              <a:rPr lang="en-US" sz="1300" dirty="0">
                <a:solidFill>
                  <a:srgbClr val="E7E8D1"/>
                </a:solidFill>
                <a:latin typeface="Calibri" pitchFamily="34" charset="0"/>
                <a:ea typeface="Calibri" pitchFamily="34" charset="-122"/>
                <a:cs typeface="Calibri" pitchFamily="34" charset="-120"/>
              </a:rPr>
              <a:t>There are no gym entries in the platform’s permission list, and the screen asks for a permission that does not exist — so the answer is always no.</a:t>
            </a:r>
            <a:endParaRPr lang="en-US" sz="1300" dirty="0"/>
          </a:p>
        </p:txBody>
      </p:sp>
      <p:sp>
        <p:nvSpPr>
          <p:cNvPr id="349" name="Text 349"/>
          <p:cNvSpPr/>
          <p:nvPr/>
        </p:nvSpPr>
        <p:spPr>
          <a:xfrm>
            <a:off x="960120" y="3657600"/>
            <a:ext cx="4572000" cy="365760"/>
          </a:xfrm>
          <a:prstGeom prst="rect">
            <a:avLst/>
          </a:prstGeom>
          <a:noFill/>
          <a:ln/>
        </p:spPr>
        <p:txBody>
          <a:bodyPr wrap="square" lIns="0" tIns="0" rIns="0" bIns="0" rtlCol="0" anchor="ctr"/>
          <a:lstStyle/>
          <a:p>
            <a:pPr marL="0" indent="0">
              <a:buNone/>
            </a:pPr>
            <a:r>
              <a:rPr lang="en-US" sz="1300" i="1" dirty="0">
                <a:solidFill>
                  <a:srgbClr val="A7BEAE"/>
                </a:solidFill>
                <a:latin typeface="Calibri" pitchFamily="34" charset="0"/>
                <a:ea typeface="Calibri" pitchFamily="34" charset="-122"/>
                <a:cs typeface="Calibri" pitchFamily="34" charset="-120"/>
              </a:rPr>
              <a:t>No permission can be granted to fix it</a:t>
            </a:r>
            <a:endParaRPr lang="en-US" sz="1300" dirty="0"/>
          </a:p>
        </p:txBody>
      </p:sp>
      <p:sp>
        <p:nvSpPr>
          <p:cNvPr id="350" name="Shape 350"/>
          <p:cNvSpPr/>
          <p:nvPr/>
        </p:nvSpPr>
        <p:spPr>
          <a:xfrm>
            <a:off x="6309360" y="1691640"/>
            <a:ext cx="5212080" cy="2560320"/>
          </a:xfrm>
          <a:prstGeom prst="roundRect">
            <a:avLst>
              <a:gd name="adj" fmla="val 2222"/>
            </a:avLst>
          </a:prstGeom>
          <a:solidFill>
            <a:srgbClr val="FBF6F2"/>
          </a:solidFill>
          <a:ln w="12700">
            <a:solidFill>
              <a:srgbClr val="E8DFD6"/>
            </a:solidFill>
            <a:prstDash val="solid"/>
          </a:ln>
          <a:effectLst>
            <a:outerShdw blurRad="127000" dist="508" dir="5400000" algn="bl" rotWithShape="0">
              <a:srgbClr val="000000">
                <a:alpha val="10000"/>
              </a:srgbClr>
            </a:outerShdw>
          </a:effectLst>
        </p:spPr>
      </p:sp>
      <p:sp>
        <p:nvSpPr>
          <p:cNvPr id="351" name="Text 351"/>
          <p:cNvSpPr/>
          <p:nvPr/>
        </p:nvSpPr>
        <p:spPr>
          <a:xfrm>
            <a:off x="6629400" y="1874520"/>
            <a:ext cx="4572000" cy="457200"/>
          </a:xfrm>
          <a:prstGeom prst="rect">
            <a:avLst/>
          </a:prstGeom>
          <a:noFill/>
          <a:ln/>
        </p:spPr>
        <p:txBody>
          <a:bodyPr wrap="square" lIns="0" tIns="0" rIns="0" bIns="0" rtlCol="0" anchor="ctr"/>
          <a:lstStyle/>
          <a:p>
            <a:pPr marL="0" indent="0">
              <a:buNone/>
            </a:pPr>
            <a:r>
              <a:rPr lang="en-US" sz="2600" b="1" dirty="0">
                <a:solidFill>
                  <a:srgbClr val="B85042"/>
                </a:solidFill>
                <a:latin typeface="Cambria" pitchFamily="34" charset="0"/>
                <a:ea typeface="Cambria" pitchFamily="34" charset="-122"/>
                <a:cs typeface="Cambria" pitchFamily="34" charset="-120"/>
              </a:rPr>
              <a:t>Main Info and Bookings</a:t>
            </a:r>
            <a:endParaRPr lang="en-US" sz="2600" dirty="0"/>
          </a:p>
        </p:txBody>
      </p:sp>
      <p:sp>
        <p:nvSpPr>
          <p:cNvPr id="352" name="Text 352"/>
          <p:cNvSpPr/>
          <p:nvPr/>
        </p:nvSpPr>
        <p:spPr>
          <a:xfrm>
            <a:off x="6629400" y="2395728"/>
            <a:ext cx="4572000" cy="548640"/>
          </a:xfrm>
          <a:prstGeom prst="rect">
            <a:avLst/>
          </a:prstGeom>
          <a:noFill/>
          <a:ln/>
        </p:spPr>
        <p:txBody>
          <a:bodyPr wrap="square" lIns="0" tIns="0" rIns="0" bIns="0" rtlCol="0" anchor="ctr"/>
          <a:lstStyle/>
          <a:p>
            <a:pPr marL="0" indent="0">
              <a:buNone/>
            </a:pPr>
            <a:r>
              <a:rPr lang="en-US" sz="1450" b="1" dirty="0">
                <a:solidFill>
                  <a:srgbClr val="2B2321"/>
                </a:solidFill>
                <a:latin typeface="Calibri" pitchFamily="34" charset="0"/>
                <a:ea typeface="Calibri" pitchFamily="34" charset="-122"/>
                <a:cs typeface="Calibri" pitchFamily="34" charset="-120"/>
              </a:rPr>
              <a:t>No permission check at all.</a:t>
            </a:r>
            <a:endParaRPr lang="en-US" sz="1450" dirty="0"/>
          </a:p>
        </p:txBody>
      </p:sp>
      <p:sp>
        <p:nvSpPr>
          <p:cNvPr id="353" name="Text 353"/>
          <p:cNvSpPr/>
          <p:nvPr/>
        </p:nvSpPr>
        <p:spPr>
          <a:xfrm>
            <a:off x="6629400" y="3017520"/>
            <a:ext cx="4572000" cy="548640"/>
          </a:xfrm>
          <a:prstGeom prst="rect">
            <a:avLst/>
          </a:prstGeom>
          <a:noFill/>
          <a:ln/>
        </p:spPr>
        <p:txBody>
          <a:bodyPr wrap="square" lIns="0" tIns="0" rIns="0" bIns="0" rtlCol="0" anchor="ctr"/>
          <a:lstStyle/>
          <a:p>
            <a:pPr marL="0" indent="0">
              <a:buNone/>
            </a:pPr>
            <a:r>
              <a:rPr lang="en-US" sz="1300" dirty="0">
                <a:solidFill>
                  <a:srgbClr val="7A6A64"/>
                </a:solidFill>
                <a:latin typeface="Calibri" pitchFamily="34" charset="0"/>
                <a:ea typeface="Calibri" pitchFamily="34" charset="-122"/>
                <a:cs typeface="Calibri" pitchFamily="34" charset="-120"/>
              </a:rPr>
              <a:t>Anyone who can reach the Gym section can edit the gym’s settings, create bookings and answer cancellation requests.</a:t>
            </a:r>
            <a:endParaRPr lang="en-US" sz="1300" dirty="0"/>
          </a:p>
        </p:txBody>
      </p:sp>
      <p:sp>
        <p:nvSpPr>
          <p:cNvPr id="354" name="Text 354"/>
          <p:cNvSpPr/>
          <p:nvPr/>
        </p:nvSpPr>
        <p:spPr>
          <a:xfrm>
            <a:off x="6629400" y="3657600"/>
            <a:ext cx="4572000" cy="365760"/>
          </a:xfrm>
          <a:prstGeom prst="rect">
            <a:avLst/>
          </a:prstGeom>
          <a:noFill/>
          <a:ln/>
        </p:spPr>
        <p:txBody>
          <a:bodyPr wrap="square" lIns="0" tIns="0" rIns="0" bIns="0" rtlCol="0" anchor="ctr"/>
          <a:lstStyle/>
          <a:p>
            <a:pPr marL="0" indent="0">
              <a:buNone/>
            </a:pPr>
            <a:r>
              <a:rPr lang="en-US" sz="1300" i="1" dirty="0">
                <a:solidFill>
                  <a:srgbClr val="B85042"/>
                </a:solidFill>
                <a:latin typeface="Calibri" pitchFamily="34" charset="0"/>
                <a:ea typeface="Calibri" pitchFamily="34" charset="-122"/>
                <a:cs typeface="Calibri" pitchFamily="34" charset="-120"/>
              </a:rPr>
              <a:t>Open to everyone who gets this far</a:t>
            </a:r>
            <a:endParaRPr lang="en-US" sz="1300" dirty="0"/>
          </a:p>
        </p:txBody>
      </p:sp>
      <p:sp>
        <p:nvSpPr>
          <p:cNvPr id="355" name="Shape 355"/>
          <p:cNvSpPr/>
          <p:nvPr/>
        </p:nvSpPr>
        <p:spPr>
          <a:xfrm>
            <a:off x="640080" y="4480560"/>
            <a:ext cx="10881360" cy="1005840"/>
          </a:xfrm>
          <a:prstGeom prst="roundRect">
            <a:avLst>
              <a:gd name="adj" fmla="val 2222"/>
            </a:avLst>
          </a:prstGeom>
          <a:solidFill>
            <a:srgbClr val="F0F4F0"/>
          </a:solidFill>
          <a:ln w="12700">
            <a:solidFill>
              <a:srgbClr val="A7BEAE"/>
            </a:solidFill>
            <a:prstDash val="solid"/>
          </a:ln>
        </p:spPr>
      </p:sp>
      <p:sp>
        <p:nvSpPr>
          <p:cNvPr id="356" name="Text 356"/>
          <p:cNvSpPr/>
          <p:nvPr/>
        </p:nvSpPr>
        <p:spPr>
          <a:xfrm>
            <a:off x="960120" y="4590288"/>
            <a:ext cx="10241280" cy="292608"/>
          </a:xfrm>
          <a:prstGeom prst="rect">
            <a:avLst/>
          </a:prstGeom>
          <a:noFill/>
          <a:ln/>
        </p:spPr>
        <p:txBody>
          <a:bodyPr wrap="square" lIns="0" tIns="0" rIns="0" bIns="0" rtlCol="0" anchor="ctr"/>
          <a:lstStyle/>
          <a:p>
            <a:pPr marL="0" indent="0">
              <a:buNone/>
            </a:pPr>
            <a:r>
              <a:rPr lang="en-US" sz="1450" b="1" dirty="0">
                <a:solidFill>
                  <a:srgbClr val="3D2320"/>
                </a:solidFill>
                <a:latin typeface="Calibri" pitchFamily="34" charset="0"/>
                <a:ea typeface="Calibri" pitchFamily="34" charset="-122"/>
                <a:cs typeface="Calibri" pitchFamily="34" charset="-120"/>
              </a:rPr>
              <a:t>So a colleague can be locked out of Plans and still refund members.</a:t>
            </a:r>
            <a:endParaRPr lang="en-US" sz="1450" dirty="0"/>
          </a:p>
        </p:txBody>
      </p:sp>
      <p:sp>
        <p:nvSpPr>
          <p:cNvPr id="357" name="Text 357"/>
          <p:cNvSpPr/>
          <p:nvPr/>
        </p:nvSpPr>
        <p:spPr>
          <a:xfrm>
            <a:off x="960120" y="4901184"/>
            <a:ext cx="10241280" cy="457200"/>
          </a:xfrm>
          <a:prstGeom prst="rect">
            <a:avLst/>
          </a:prstGeom>
          <a:noFill/>
          <a:ln/>
        </p:spPr>
        <p:txBody>
          <a:bodyPr wrap="square" lIns="0" tIns="0" rIns="0" bIns="0" rtlCol="0" anchor="ctr"/>
          <a:lstStyle/>
          <a:p>
            <a:pPr marL="0" indent="0">
              <a:buNone/>
            </a:pPr>
            <a:r>
              <a:rPr lang="en-US" sz="1300" dirty="0">
                <a:solidFill>
                  <a:srgbClr val="2B2321"/>
                </a:solidFill>
                <a:latin typeface="Calibri" pitchFamily="34" charset="0"/>
                <a:ea typeface="Calibri" pitchFamily="34" charset="-122"/>
                <a:cs typeface="Calibri" pitchFamily="34" charset="-120"/>
              </a:rPr>
              <a:t>The odd split is worth knowing. You cannot fix the Plans side by editing permissions — there is nothing to tick. Raise it with the technical team, and confirm the behaviour with them before repeating it.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3D2320"/>
        </a:solidFill>
        <a:effectLst/>
      </p:bgPr>
    </p:bg>
    <p:spTree>
      <p:nvGrpSpPr>
        <p:cNvPr id="1" name=""/>
        <p:cNvGrpSpPr/>
        <p:nvPr/>
      </p:nvGrpSpPr>
      <p:grpSpPr>
        <a:xfrm>
          <a:off x="0" y="0"/>
          <a:ext cx="0" cy="0"/>
          <a:chOff x="0" y="0"/>
          <a:chExt cx="0" cy="0"/>
        </a:xfrm>
      </p:grpSpPr>
      <p:sp>
        <p:nvSpPr>
          <p:cNvPr id="364" name="Shape 364"/>
          <p:cNvSpPr/>
          <p:nvPr/>
        </p:nvSpPr>
        <p:spPr>
          <a:xfrm>
            <a:off x="-1463040" y="3931920"/>
            <a:ext cx="4023360" cy="4023360"/>
          </a:xfrm>
          <a:prstGeom prst="ellipse">
            <a:avLst/>
          </a:prstGeom>
          <a:solidFill>
            <a:srgbClr val="B85042">
              <a:alpha val="35000"/>
            </a:srgbClr>
          </a:solidFill>
          <a:ln/>
        </p:spPr>
      </p:sp>
      <p:sp>
        <p:nvSpPr>
          <p:cNvPr id="365" name="Text 365"/>
          <p:cNvSpPr/>
          <p:nvPr/>
        </p:nvSpPr>
        <p:spPr>
          <a:xfrm>
            <a:off x="640080" y="548640"/>
            <a:ext cx="10881360" cy="73152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Remember these six</a:t>
            </a:r>
            <a:endParaRPr lang="en-US" sz="3600" dirty="0"/>
          </a:p>
        </p:txBody>
      </p:sp>
      <p:sp>
        <p:nvSpPr>
          <p:cNvPr id="366" name="Shape 366"/>
          <p:cNvSpPr/>
          <p:nvPr/>
        </p:nvSpPr>
        <p:spPr>
          <a:xfrm>
            <a:off x="640080" y="1508760"/>
            <a:ext cx="5257800" cy="1280160"/>
          </a:xfrm>
          <a:prstGeom prst="roundRect">
            <a:avLst>
              <a:gd name="adj" fmla="val 2222"/>
            </a:avLst>
          </a:prstGeom>
          <a:solidFill>
            <a:srgbClr val="FFFFFF">
              <a:alpha val="8000"/>
            </a:srgbClr>
          </a:solidFill>
          <a:ln w="12700">
            <a:solidFill>
              <a:srgbClr val="A7BEAE"/>
            </a:solidFill>
            <a:prstDash val="solid"/>
          </a:ln>
        </p:spPr>
      </p:sp>
      <p:sp>
        <p:nvSpPr>
          <p:cNvPr id="367" name="Shape 367"/>
          <p:cNvSpPr/>
          <p:nvPr/>
        </p:nvSpPr>
        <p:spPr>
          <a:xfrm>
            <a:off x="896112" y="1728216"/>
            <a:ext cx="420624" cy="420624"/>
          </a:xfrm>
          <a:prstGeom prst="ellipse">
            <a:avLst/>
          </a:prstGeom>
          <a:solidFill>
            <a:srgbClr val="A7BEAE"/>
          </a:solidFill>
          <a:ln/>
        </p:spPr>
      </p:sp>
      <p:sp>
        <p:nvSpPr>
          <p:cNvPr id="368" name="Text 368"/>
          <p:cNvSpPr/>
          <p:nvPr/>
        </p:nvSpPr>
        <p:spPr>
          <a:xfrm>
            <a:off x="896112" y="1728216"/>
            <a:ext cx="420624" cy="420624"/>
          </a:xfrm>
          <a:prstGeom prst="rect">
            <a:avLst/>
          </a:prstGeom>
          <a:noFill/>
          <a:ln/>
        </p:spPr>
        <p:txBody>
          <a:bodyPr wrap="square" lIns="0" tIns="0" rIns="0" bIns="0" rtlCol="0" anchor="ctr"/>
          <a:lstStyle/>
          <a:p>
            <a:pPr marL="0" indent="0" algn="ctr">
              <a:buNone/>
            </a:pPr>
            <a:r>
              <a:rPr lang="en-US" sz="1400" b="1" dirty="0">
                <a:solidFill>
                  <a:srgbClr val="3D2320"/>
                </a:solidFill>
                <a:latin typeface="Calibri" pitchFamily="34" charset="0"/>
                <a:ea typeface="Calibri" pitchFamily="34" charset="-122"/>
                <a:cs typeface="Calibri" pitchFamily="34" charset="-120"/>
              </a:rPr>
              <a:t>1</a:t>
            </a:r>
            <a:endParaRPr lang="en-US" sz="1400" dirty="0"/>
          </a:p>
        </p:txBody>
      </p:sp>
      <p:sp>
        <p:nvSpPr>
          <p:cNvPr id="369" name="Text 369"/>
          <p:cNvSpPr/>
          <p:nvPr/>
        </p:nvSpPr>
        <p:spPr>
          <a:xfrm>
            <a:off x="1481328" y="1691640"/>
            <a:ext cx="4160520" cy="4754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No publish step</a:t>
            </a:r>
            <a:endParaRPr lang="en-US" sz="1500" dirty="0"/>
          </a:p>
        </p:txBody>
      </p:sp>
      <p:sp>
        <p:nvSpPr>
          <p:cNvPr id="370" name="Text 370"/>
          <p:cNvSpPr/>
          <p:nvPr/>
        </p:nvSpPr>
        <p:spPr>
          <a:xfrm>
            <a:off x="914400" y="2221992"/>
            <a:ext cx="4709160" cy="45720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Everything you save is live for members immediately.</a:t>
            </a:r>
            <a:endParaRPr lang="en-US" sz="1250" dirty="0"/>
          </a:p>
        </p:txBody>
      </p:sp>
      <p:sp>
        <p:nvSpPr>
          <p:cNvPr id="371" name="Shape 371"/>
          <p:cNvSpPr/>
          <p:nvPr/>
        </p:nvSpPr>
        <p:spPr>
          <a:xfrm>
            <a:off x="6263640" y="1508760"/>
            <a:ext cx="5257800" cy="1280160"/>
          </a:xfrm>
          <a:prstGeom prst="roundRect">
            <a:avLst>
              <a:gd name="adj" fmla="val 2222"/>
            </a:avLst>
          </a:prstGeom>
          <a:solidFill>
            <a:srgbClr val="FFFFFF">
              <a:alpha val="8000"/>
            </a:srgbClr>
          </a:solidFill>
          <a:ln w="12700">
            <a:solidFill>
              <a:srgbClr val="A7BEAE"/>
            </a:solidFill>
            <a:prstDash val="solid"/>
          </a:ln>
        </p:spPr>
      </p:sp>
      <p:sp>
        <p:nvSpPr>
          <p:cNvPr id="372" name="Shape 372"/>
          <p:cNvSpPr/>
          <p:nvPr/>
        </p:nvSpPr>
        <p:spPr>
          <a:xfrm>
            <a:off x="6519672" y="1728216"/>
            <a:ext cx="420624" cy="420624"/>
          </a:xfrm>
          <a:prstGeom prst="ellipse">
            <a:avLst/>
          </a:prstGeom>
          <a:solidFill>
            <a:srgbClr val="A7BEAE"/>
          </a:solidFill>
          <a:ln/>
        </p:spPr>
      </p:sp>
      <p:sp>
        <p:nvSpPr>
          <p:cNvPr id="373" name="Text 373"/>
          <p:cNvSpPr/>
          <p:nvPr/>
        </p:nvSpPr>
        <p:spPr>
          <a:xfrm>
            <a:off x="6519672" y="1728216"/>
            <a:ext cx="420624" cy="420624"/>
          </a:xfrm>
          <a:prstGeom prst="rect">
            <a:avLst/>
          </a:prstGeom>
          <a:noFill/>
          <a:ln/>
        </p:spPr>
        <p:txBody>
          <a:bodyPr wrap="square" lIns="0" tIns="0" rIns="0" bIns="0" rtlCol="0" anchor="ctr"/>
          <a:lstStyle/>
          <a:p>
            <a:pPr marL="0" indent="0" algn="ctr">
              <a:buNone/>
            </a:pPr>
            <a:r>
              <a:rPr lang="en-US" sz="1400" b="1" dirty="0">
                <a:solidFill>
                  <a:srgbClr val="3D2320"/>
                </a:solidFill>
                <a:latin typeface="Calibri" pitchFamily="34" charset="0"/>
                <a:ea typeface="Calibri" pitchFamily="34" charset="-122"/>
                <a:cs typeface="Calibri" pitchFamily="34" charset="-120"/>
              </a:rPr>
              <a:t>2</a:t>
            </a:r>
            <a:endParaRPr lang="en-US" sz="1400" dirty="0"/>
          </a:p>
        </p:txBody>
      </p:sp>
      <p:sp>
        <p:nvSpPr>
          <p:cNvPr id="374" name="Text 374"/>
          <p:cNvSpPr/>
          <p:nvPr/>
        </p:nvSpPr>
        <p:spPr>
          <a:xfrm>
            <a:off x="7104888" y="1691640"/>
            <a:ext cx="4160520" cy="4754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Four fields lock forever</a:t>
            </a:r>
            <a:endParaRPr lang="en-US" sz="1500" dirty="0"/>
          </a:p>
        </p:txBody>
      </p:sp>
      <p:sp>
        <p:nvSpPr>
          <p:cNvPr id="375" name="Text 375"/>
          <p:cNvSpPr/>
          <p:nvPr/>
        </p:nvSpPr>
        <p:spPr>
          <a:xfrm>
            <a:off x="6537960" y="2221992"/>
            <a:ext cx="4709160" cy="45720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Duration, Total Freeze, Min Freeze, Guest Invitations. Get them right first time.</a:t>
            </a:r>
            <a:endParaRPr lang="en-US" sz="1250" dirty="0"/>
          </a:p>
        </p:txBody>
      </p:sp>
      <p:sp>
        <p:nvSpPr>
          <p:cNvPr id="376" name="Shape 376"/>
          <p:cNvSpPr/>
          <p:nvPr/>
        </p:nvSpPr>
        <p:spPr>
          <a:xfrm>
            <a:off x="640080" y="3044952"/>
            <a:ext cx="5257800" cy="1280160"/>
          </a:xfrm>
          <a:prstGeom prst="roundRect">
            <a:avLst>
              <a:gd name="adj" fmla="val 2222"/>
            </a:avLst>
          </a:prstGeom>
          <a:solidFill>
            <a:srgbClr val="FFFFFF">
              <a:alpha val="8000"/>
            </a:srgbClr>
          </a:solidFill>
          <a:ln w="12700">
            <a:solidFill>
              <a:srgbClr val="A7BEAE"/>
            </a:solidFill>
            <a:prstDash val="solid"/>
          </a:ln>
        </p:spPr>
      </p:sp>
      <p:sp>
        <p:nvSpPr>
          <p:cNvPr id="377" name="Shape 377"/>
          <p:cNvSpPr/>
          <p:nvPr/>
        </p:nvSpPr>
        <p:spPr>
          <a:xfrm>
            <a:off x="896112" y="3264408"/>
            <a:ext cx="420624" cy="420624"/>
          </a:xfrm>
          <a:prstGeom prst="ellipse">
            <a:avLst/>
          </a:prstGeom>
          <a:solidFill>
            <a:srgbClr val="A7BEAE"/>
          </a:solidFill>
          <a:ln/>
        </p:spPr>
      </p:sp>
      <p:sp>
        <p:nvSpPr>
          <p:cNvPr id="378" name="Text 378"/>
          <p:cNvSpPr/>
          <p:nvPr/>
        </p:nvSpPr>
        <p:spPr>
          <a:xfrm>
            <a:off x="896112" y="3264408"/>
            <a:ext cx="420624" cy="420624"/>
          </a:xfrm>
          <a:prstGeom prst="rect">
            <a:avLst/>
          </a:prstGeom>
          <a:noFill/>
          <a:ln/>
        </p:spPr>
        <p:txBody>
          <a:bodyPr wrap="square" lIns="0" tIns="0" rIns="0" bIns="0" rtlCol="0" anchor="ctr"/>
          <a:lstStyle/>
          <a:p>
            <a:pPr marL="0" indent="0" algn="ctr">
              <a:buNone/>
            </a:pPr>
            <a:r>
              <a:rPr lang="en-US" sz="1400" b="1" dirty="0">
                <a:solidFill>
                  <a:srgbClr val="3D2320"/>
                </a:solidFill>
                <a:latin typeface="Calibri" pitchFamily="34" charset="0"/>
                <a:ea typeface="Calibri" pitchFamily="34" charset="-122"/>
                <a:cs typeface="Calibri" pitchFamily="34" charset="-120"/>
              </a:rPr>
              <a:t>3</a:t>
            </a:r>
            <a:endParaRPr lang="en-US" sz="1400" dirty="0"/>
          </a:p>
        </p:txBody>
      </p:sp>
      <p:sp>
        <p:nvSpPr>
          <p:cNvPr id="379" name="Text 379"/>
          <p:cNvSpPr/>
          <p:nvPr/>
        </p:nvSpPr>
        <p:spPr>
          <a:xfrm>
            <a:off x="1481328" y="3227832"/>
            <a:ext cx="4160520" cy="4754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Check Paymob ID</a:t>
            </a:r>
            <a:endParaRPr lang="en-US" sz="1500" dirty="0"/>
          </a:p>
        </p:txBody>
      </p:sp>
      <p:sp>
        <p:nvSpPr>
          <p:cNvPr id="380" name="Text 380"/>
          <p:cNvSpPr/>
          <p:nvPr/>
        </p:nvSpPr>
        <p:spPr>
          <a:xfrm>
            <a:off x="914400" y="3758184"/>
            <a:ext cx="4709160" cy="45720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It decides where the gym’s money goes.</a:t>
            </a:r>
            <a:endParaRPr lang="en-US" sz="1250" dirty="0"/>
          </a:p>
        </p:txBody>
      </p:sp>
      <p:sp>
        <p:nvSpPr>
          <p:cNvPr id="381" name="Shape 381"/>
          <p:cNvSpPr/>
          <p:nvPr/>
        </p:nvSpPr>
        <p:spPr>
          <a:xfrm>
            <a:off x="6263640" y="3044952"/>
            <a:ext cx="5257800" cy="1280160"/>
          </a:xfrm>
          <a:prstGeom prst="roundRect">
            <a:avLst>
              <a:gd name="adj" fmla="val 2222"/>
            </a:avLst>
          </a:prstGeom>
          <a:solidFill>
            <a:srgbClr val="FFFFFF">
              <a:alpha val="8000"/>
            </a:srgbClr>
          </a:solidFill>
          <a:ln w="12700">
            <a:solidFill>
              <a:srgbClr val="A7BEAE"/>
            </a:solidFill>
            <a:prstDash val="solid"/>
          </a:ln>
        </p:spPr>
      </p:sp>
      <p:sp>
        <p:nvSpPr>
          <p:cNvPr id="382" name="Shape 382"/>
          <p:cNvSpPr/>
          <p:nvPr/>
        </p:nvSpPr>
        <p:spPr>
          <a:xfrm>
            <a:off x="6519672" y="3264408"/>
            <a:ext cx="420624" cy="420624"/>
          </a:xfrm>
          <a:prstGeom prst="ellipse">
            <a:avLst/>
          </a:prstGeom>
          <a:solidFill>
            <a:srgbClr val="A7BEAE"/>
          </a:solidFill>
          <a:ln/>
        </p:spPr>
      </p:sp>
      <p:sp>
        <p:nvSpPr>
          <p:cNvPr id="383" name="Text 383"/>
          <p:cNvSpPr/>
          <p:nvPr/>
        </p:nvSpPr>
        <p:spPr>
          <a:xfrm>
            <a:off x="6519672" y="3264408"/>
            <a:ext cx="420624" cy="420624"/>
          </a:xfrm>
          <a:prstGeom prst="rect">
            <a:avLst/>
          </a:prstGeom>
          <a:noFill/>
          <a:ln/>
        </p:spPr>
        <p:txBody>
          <a:bodyPr wrap="square" lIns="0" tIns="0" rIns="0" bIns="0" rtlCol="0" anchor="ctr"/>
          <a:lstStyle/>
          <a:p>
            <a:pPr marL="0" indent="0" algn="ctr">
              <a:buNone/>
            </a:pPr>
            <a:r>
              <a:rPr lang="en-US" sz="1400" b="1" dirty="0">
                <a:solidFill>
                  <a:srgbClr val="3D2320"/>
                </a:solidFill>
                <a:latin typeface="Calibri" pitchFamily="34" charset="0"/>
                <a:ea typeface="Calibri" pitchFamily="34" charset="-122"/>
                <a:cs typeface="Calibri" pitchFamily="34" charset="-120"/>
              </a:rPr>
              <a:t>4</a:t>
            </a:r>
            <a:endParaRPr lang="en-US" sz="1400" dirty="0"/>
          </a:p>
        </p:txBody>
      </p:sp>
      <p:sp>
        <p:nvSpPr>
          <p:cNvPr id="384" name="Text 384"/>
          <p:cNvSpPr/>
          <p:nvPr/>
        </p:nvSpPr>
        <p:spPr>
          <a:xfrm>
            <a:off x="7104888" y="3227832"/>
            <a:ext cx="4160520" cy="4754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You type every refund</a:t>
            </a:r>
            <a:endParaRPr lang="en-US" sz="1500" dirty="0"/>
          </a:p>
        </p:txBody>
      </p:sp>
      <p:sp>
        <p:nvSpPr>
          <p:cNvPr id="385" name="Text 385"/>
          <p:cNvSpPr/>
          <p:nvPr/>
        </p:nvSpPr>
        <p:spPr>
          <a:xfrm>
            <a:off x="6537960" y="3758184"/>
            <a:ext cx="4709160" cy="45720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The cancellation fees on Main Info are policy, not arithmetic.</a:t>
            </a:r>
            <a:endParaRPr lang="en-US" sz="1250" dirty="0"/>
          </a:p>
        </p:txBody>
      </p:sp>
      <p:sp>
        <p:nvSpPr>
          <p:cNvPr id="386" name="Shape 386"/>
          <p:cNvSpPr/>
          <p:nvPr/>
        </p:nvSpPr>
        <p:spPr>
          <a:xfrm>
            <a:off x="640080" y="4581144"/>
            <a:ext cx="5257800" cy="1280160"/>
          </a:xfrm>
          <a:prstGeom prst="roundRect">
            <a:avLst>
              <a:gd name="adj" fmla="val 2222"/>
            </a:avLst>
          </a:prstGeom>
          <a:solidFill>
            <a:srgbClr val="FFFFFF">
              <a:alpha val="8000"/>
            </a:srgbClr>
          </a:solidFill>
          <a:ln w="12700">
            <a:solidFill>
              <a:srgbClr val="A7BEAE"/>
            </a:solidFill>
            <a:prstDash val="solid"/>
          </a:ln>
        </p:spPr>
      </p:sp>
      <p:sp>
        <p:nvSpPr>
          <p:cNvPr id="387" name="Shape 387"/>
          <p:cNvSpPr/>
          <p:nvPr/>
        </p:nvSpPr>
        <p:spPr>
          <a:xfrm>
            <a:off x="896112" y="4800600"/>
            <a:ext cx="420624" cy="420624"/>
          </a:xfrm>
          <a:prstGeom prst="ellipse">
            <a:avLst/>
          </a:prstGeom>
          <a:solidFill>
            <a:srgbClr val="A7BEAE"/>
          </a:solidFill>
          <a:ln/>
        </p:spPr>
      </p:sp>
      <p:sp>
        <p:nvSpPr>
          <p:cNvPr id="388" name="Text 388"/>
          <p:cNvSpPr/>
          <p:nvPr/>
        </p:nvSpPr>
        <p:spPr>
          <a:xfrm>
            <a:off x="896112" y="4800600"/>
            <a:ext cx="420624" cy="420624"/>
          </a:xfrm>
          <a:prstGeom prst="rect">
            <a:avLst/>
          </a:prstGeom>
          <a:noFill/>
          <a:ln/>
        </p:spPr>
        <p:txBody>
          <a:bodyPr wrap="square" lIns="0" tIns="0" rIns="0" bIns="0" rtlCol="0" anchor="ctr"/>
          <a:lstStyle/>
          <a:p>
            <a:pPr marL="0" indent="0" algn="ctr">
              <a:buNone/>
            </a:pPr>
            <a:r>
              <a:rPr lang="en-US" sz="1400" b="1" dirty="0">
                <a:solidFill>
                  <a:srgbClr val="3D2320"/>
                </a:solidFill>
                <a:latin typeface="Calibri" pitchFamily="34" charset="0"/>
                <a:ea typeface="Calibri" pitchFamily="34" charset="-122"/>
                <a:cs typeface="Calibri" pitchFamily="34" charset="-120"/>
              </a:rPr>
              <a:t>5</a:t>
            </a:r>
            <a:endParaRPr lang="en-US" sz="1400" dirty="0"/>
          </a:p>
        </p:txBody>
      </p:sp>
      <p:sp>
        <p:nvSpPr>
          <p:cNvPr id="389" name="Text 389"/>
          <p:cNvSpPr/>
          <p:nvPr/>
        </p:nvSpPr>
        <p:spPr>
          <a:xfrm>
            <a:off x="1481328" y="4764024"/>
            <a:ext cx="4160520" cy="4754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You record payments, not take them</a:t>
            </a:r>
            <a:endParaRPr lang="en-US" sz="1500" dirty="0"/>
          </a:p>
        </p:txBody>
      </p:sp>
      <p:sp>
        <p:nvSpPr>
          <p:cNvPr id="390" name="Text 390"/>
          <p:cNvSpPr/>
          <p:nvPr/>
        </p:nvSpPr>
        <p:spPr>
          <a:xfrm>
            <a:off x="914400" y="5294376"/>
            <a:ext cx="4709160" cy="45720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Take the money through the wallet first, then paste the transaction ID.</a:t>
            </a:r>
            <a:endParaRPr lang="en-US" sz="1250" dirty="0"/>
          </a:p>
        </p:txBody>
      </p:sp>
      <p:sp>
        <p:nvSpPr>
          <p:cNvPr id="391" name="Shape 391"/>
          <p:cNvSpPr/>
          <p:nvPr/>
        </p:nvSpPr>
        <p:spPr>
          <a:xfrm>
            <a:off x="6263640" y="4581144"/>
            <a:ext cx="5257800" cy="1280160"/>
          </a:xfrm>
          <a:prstGeom prst="roundRect">
            <a:avLst>
              <a:gd name="adj" fmla="val 2222"/>
            </a:avLst>
          </a:prstGeom>
          <a:solidFill>
            <a:srgbClr val="FFFFFF">
              <a:alpha val="8000"/>
            </a:srgbClr>
          </a:solidFill>
          <a:ln w="12700">
            <a:solidFill>
              <a:srgbClr val="A7BEAE"/>
            </a:solidFill>
            <a:prstDash val="solid"/>
          </a:ln>
        </p:spPr>
      </p:sp>
      <p:sp>
        <p:nvSpPr>
          <p:cNvPr id="392" name="Shape 392"/>
          <p:cNvSpPr/>
          <p:nvPr/>
        </p:nvSpPr>
        <p:spPr>
          <a:xfrm>
            <a:off x="6519672" y="4800600"/>
            <a:ext cx="420624" cy="420624"/>
          </a:xfrm>
          <a:prstGeom prst="ellipse">
            <a:avLst/>
          </a:prstGeom>
          <a:solidFill>
            <a:srgbClr val="A7BEAE"/>
          </a:solidFill>
          <a:ln/>
        </p:spPr>
      </p:sp>
      <p:sp>
        <p:nvSpPr>
          <p:cNvPr id="393" name="Text 393"/>
          <p:cNvSpPr/>
          <p:nvPr/>
        </p:nvSpPr>
        <p:spPr>
          <a:xfrm>
            <a:off x="6519672" y="4800600"/>
            <a:ext cx="420624" cy="420624"/>
          </a:xfrm>
          <a:prstGeom prst="rect">
            <a:avLst/>
          </a:prstGeom>
          <a:noFill/>
          <a:ln/>
        </p:spPr>
        <p:txBody>
          <a:bodyPr wrap="square" lIns="0" tIns="0" rIns="0" bIns="0" rtlCol="0" anchor="ctr"/>
          <a:lstStyle/>
          <a:p>
            <a:pPr marL="0" indent="0" algn="ctr">
              <a:buNone/>
            </a:pPr>
            <a:r>
              <a:rPr lang="en-US" sz="1400" b="1" dirty="0">
                <a:solidFill>
                  <a:srgbClr val="3D2320"/>
                </a:solidFill>
                <a:latin typeface="Calibri" pitchFamily="34" charset="0"/>
                <a:ea typeface="Calibri" pitchFamily="34" charset="-122"/>
                <a:cs typeface="Calibri" pitchFamily="34" charset="-120"/>
              </a:rPr>
              <a:t>6</a:t>
            </a:r>
            <a:endParaRPr lang="en-US" sz="1400" dirty="0"/>
          </a:p>
        </p:txBody>
      </p:sp>
      <p:sp>
        <p:nvSpPr>
          <p:cNvPr id="394" name="Text 394"/>
          <p:cNvSpPr/>
          <p:nvPr/>
        </p:nvSpPr>
        <p:spPr>
          <a:xfrm>
            <a:off x="7104888" y="4764024"/>
            <a:ext cx="4160520" cy="47548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Plans is superadmin-only</a:t>
            </a:r>
            <a:endParaRPr lang="en-US" sz="1500" dirty="0"/>
          </a:p>
        </p:txBody>
      </p:sp>
      <p:sp>
        <p:nvSpPr>
          <p:cNvPr id="395" name="Text 395"/>
          <p:cNvSpPr/>
          <p:nvPr/>
        </p:nvSpPr>
        <p:spPr>
          <a:xfrm>
            <a:off x="6537960" y="5294376"/>
            <a:ext cx="4709160" cy="457200"/>
          </a:xfrm>
          <a:prstGeom prst="rect">
            <a:avLst/>
          </a:prstGeom>
          <a:noFill/>
          <a:ln/>
        </p:spPr>
        <p:txBody>
          <a:bodyPr wrap="square" lIns="0" tIns="0" rIns="0" bIns="0" rtlCol="0" anchor="ctr"/>
          <a:lstStyle/>
          <a:p>
            <a:pPr marL="0" indent="0">
              <a:buNone/>
            </a:pPr>
            <a:r>
              <a:rPr lang="en-US" sz="1250" dirty="0">
                <a:solidFill>
                  <a:srgbClr val="E7E8D1"/>
                </a:solidFill>
                <a:latin typeface="Calibri" pitchFamily="34" charset="0"/>
                <a:ea typeface="Calibri" pitchFamily="34" charset="-122"/>
                <a:cs typeface="Calibri" pitchFamily="34" charset="-120"/>
              </a:rPr>
              <a:t>"Not authorised" is access, not a fault — and no permission can fix it.</a:t>
            </a:r>
            <a:endParaRPr lang="en-US" sz="1250" dirty="0"/>
          </a:p>
        </p:txBody>
      </p:sp>
      <p:sp>
        <p:nvSpPr>
          <p:cNvPr id="396" name="Text 396"/>
          <p:cNvSpPr/>
          <p:nvPr/>
        </p:nvSpPr>
        <p:spPr>
          <a:xfrm>
            <a:off x="640080" y="6217920"/>
            <a:ext cx="10881360" cy="320040"/>
          </a:xfrm>
          <a:prstGeom prst="rect">
            <a:avLst/>
          </a:prstGeom>
          <a:noFill/>
          <a:ln/>
        </p:spPr>
        <p:txBody>
          <a:bodyPr wrap="square" lIns="0" tIns="0" rIns="0" bIns="0" rtlCol="0" anchor="ctr"/>
          <a:lstStyle/>
          <a:p>
            <a:pPr marL="0" indent="0">
              <a:buNone/>
            </a:pPr>
            <a:r>
              <a:rPr lang="en-US" sz="1100" i="1" dirty="0">
                <a:solidFill>
                  <a:srgbClr val="A7BEAE"/>
                </a:solidFill>
                <a:latin typeface="Calibri" pitchFamily="34" charset="0"/>
                <a:ea typeface="Calibri" pitchFamily="34" charset="-122"/>
                <a:cs typeface="Calibri" pitchFamily="34" charset="-120"/>
              </a:rPr>
              <a:t>Unfamiliar word? The Gym glossary page has every term, one line each.</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02B5644-7BE1-47D6-9C2B-CD0C8DAC6C38}">
  <we:reference id="wa200010001" version="1.0.0.1" store="en-US" storeType="OMEX"/>
  <we:alternateReferences>
    <we:reference id="wa200010001" version="1.0.0.1" store="wa200010001" storeType="OMEX"/>
  </we:alternateReferences>
  <we:properties>
    <we:property name="claude.fileId" value="&quot;5c8d5c82-8869-4dd7-aafd-b38c9020bc63&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1318</TotalTime>
  <Words>3593</Words>
  <Application>Microsoft Office PowerPoint</Application>
  <PresentationFormat>Widescreen</PresentationFormat>
  <Paragraphs>487</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Gym Admin Panel — Operating Guide</dc:title>
  <dc:subject>PptxGenJS Presentation</dc:subject>
  <dc:creator>BR Clubs</dc:creator>
  <cp:lastModifiedBy>joseph marzouk</cp:lastModifiedBy>
  <cp:revision>2</cp:revision>
  <dcterms:created xsi:type="dcterms:W3CDTF">2026-07-29T22:13:15Z</dcterms:created>
  <dcterms:modified xsi:type="dcterms:W3CDTF">2026-08-03T09:16:34Z</dcterms:modified>
</cp:coreProperties>
</file>